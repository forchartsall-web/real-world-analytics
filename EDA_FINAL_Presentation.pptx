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4" r:id="rId6"/>
    <p:sldId id="263" r:id="rId7"/>
    <p:sldId id="265" r:id="rId8"/>
    <p:sldId id="266" r:id="rId9"/>
    <p:sldId id="267" r:id="rId10"/>
    <p:sldId id="268" r:id="rId11"/>
    <p:sldId id="269" r:id="rId12"/>
    <p:sldId id="271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6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571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applies a dark corporate theme and summarizes the EDA insights using inserted plots from your R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47163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Histogram + Boxplots — Interpretation:</a:t>
            </a:r>
          </a:p>
          <a:p>
            <a:r>
              <a:rPr dirty="0"/>
              <a:t>- Examine distribution and outliers.</a:t>
            </a:r>
          </a:p>
          <a:p>
            <a:r>
              <a:rPr dirty="0"/>
              <a:t>- Assess </a:t>
            </a:r>
            <a:r>
              <a:rPr dirty="0" err="1"/>
              <a:t>skewness</a:t>
            </a:r>
            <a:r>
              <a:rPr dirty="0"/>
              <a:t> and transformation needs.</a:t>
            </a:r>
          </a:p>
          <a:p>
            <a:r>
              <a:rPr dirty="0"/>
              <a:t>- Identify multicollinearity and variable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2171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Pairwise Scatterplots — Interpretation:</a:t>
            </a:r>
          </a:p>
          <a:p>
            <a:r>
              <a:rPr dirty="0"/>
              <a:t>- Examine distribution and outliers.</a:t>
            </a:r>
          </a:p>
          <a:p>
            <a:r>
              <a:rPr dirty="0"/>
              <a:t>- Assess </a:t>
            </a:r>
            <a:r>
              <a:rPr dirty="0" err="1"/>
              <a:t>skewness</a:t>
            </a:r>
            <a:r>
              <a:rPr dirty="0"/>
              <a:t> and transformation needs.</a:t>
            </a:r>
          </a:p>
          <a:p>
            <a:r>
              <a:rPr dirty="0"/>
              <a:t>- Identify multicollinearity and variable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57108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Pairwise Relationships — Interpretation:</a:t>
            </a:r>
          </a:p>
          <a:p>
            <a:r>
              <a:rPr dirty="0"/>
              <a:t>- Examine distribution and outliers.</a:t>
            </a:r>
          </a:p>
          <a:p>
            <a:r>
              <a:rPr dirty="0"/>
              <a:t>- Assess </a:t>
            </a:r>
            <a:r>
              <a:rPr dirty="0" err="1"/>
              <a:t>skewness</a:t>
            </a:r>
            <a:r>
              <a:rPr dirty="0"/>
              <a:t> and transformation needs.</a:t>
            </a:r>
          </a:p>
          <a:p>
            <a:r>
              <a:rPr dirty="0"/>
              <a:t>- Identify multicollinearity and variable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10707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VIFs &gt;5 indicate multicollinearity persists even after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3572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predictors show skewness and strong correlations among X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4417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predictors show skewness and strong correlations among X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79885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predictors show skewness and strong correlations among X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98804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predictors show skewness and strong correlations among X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69638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predictors show skewness and strong correlations among X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14706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predictors show skewness and strong correlations among X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1344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predictors show skewness and strong correlations among X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59199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predictors show skewness and strong correlations among X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3466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Enhanced EDA Presentation</a:t>
            </a:r>
            <a:r>
              <a:rPr dirty="0" smtClean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Energy Appliances Dataset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66" y="2038002"/>
            <a:ext cx="4486901" cy="2419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66" y="4869392"/>
            <a:ext cx="6315956" cy="552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34"/>
    </mc:Choice>
    <mc:Fallback>
      <p:transition spd="slow" advTm="10934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728" y="1112838"/>
            <a:ext cx="3531079" cy="4894433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2000" dirty="0"/>
              <a:t>Variables X1, X2,X5 and Y show potential outliers in boxplots. Right </a:t>
            </a:r>
            <a:r>
              <a:rPr lang="en-US" sz="2000" dirty="0" err="1"/>
              <a:t>skewness</a:t>
            </a:r>
            <a:r>
              <a:rPr lang="en-US" sz="2000" dirty="0"/>
              <a:t> is observed in X1,Y distributions. Left </a:t>
            </a:r>
            <a:r>
              <a:rPr lang="en-US" sz="2000" dirty="0" err="1"/>
              <a:t>skewness</a:t>
            </a:r>
            <a:r>
              <a:rPr lang="en-US" sz="2000" dirty="0"/>
              <a:t> is observed in X3 and X5.</a:t>
            </a:r>
            <a:endParaRPr sz="2000" dirty="0"/>
          </a:p>
        </p:txBody>
      </p:sp>
      <p:pic>
        <p:nvPicPr>
          <p:cNvPr id="3" name="Picture 2" descr="historgram and boxplo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1570037"/>
            <a:ext cx="4731229" cy="5184445"/>
          </a:xfrm>
          <a:prstGeom prst="rect">
            <a:avLst/>
          </a:prstGeom>
        </p:spPr>
      </p:pic>
      <p:sp>
        <p:nvSpPr>
          <p:cNvPr id="25" name="AutoShape 22" descr="data:image/png;base64,iVBORw0KGgoAAAANSUhEUgAABUAAAAPACAMAAADDuCPrAAABX1BMVEUAAAAAADoAAGYAOjoAOmYAOpAAZrY6AAA6ADo6OgA6Ojo6OmY6OpA6ZmY6ZpA6ZrY6kJA6kLY6kNtGgrRNTU1NTW5NTY5Nbo5NbqtNjshmAABmADpmOgBmOjpmZgBmZjpmZmZmZpBmkGZmkJBmkLZmtrZmtttmtv9uTU1ubm5ubo5ujqtujshuq+SOTU2Obk2Obm6Oq8iOq+SOyOSOyP+QOgCQOjqQZgCQZjqQZmaQZpCQkGaQkLaQtraQttuQ29uQ2/+rbk2rbm6rjm6ryOSr5P+2ZgC2Zjq2Zma2kDq2kGa2kJC2tpC2tra2ttu229u22/+2/7a2///Ijk3Ijm7IyKvI5P/I///bkDrbkGbbtmbbtpDbtrbb27bb29vb2//b/7bb///kq27kyI7kyKvk///r6+v/AAD/tmb/yI7/25D/27b/29v/5Kv/5Mj/5OT//7b//8j//9v//+T////oX62uAAAACXBIWXMAAB2HAAAdhwGP5fFlAAAgAElEQVR4nO2d4Z/b1pWeqdixmqSxux7Klr1J42zceBrbctp12qTbzUbVRu5mm8TNOLI23mxqbSxItjVrafj//0qAAAmAAAmA9577HvJ5PmhmyHdmeHjveXQvAWJmCwAAmMQs9QMAAPAKAgUAmAgCBQCYCAIFAJgIAgUAmAgCBQCYCAIFAJgIAgUAmAgCBQCYCAIFAJgIAgUAmAgCBQCYCAIFAJgIAgUAmAgCBQCYiLFAP78++/qnta+f/WQ2e2v58avXZ9d+YftQ9vHFT6/PZs+9+eme2N3Z7OXpv+Twuu/Pmg9g+RMbX99vPuEAEBAHAv3kuynUmosp5/nf7c6FEujkKpcPoPbU5U9o/RluP+EAEBB5gS4TKdamlT9n+/wTRqAHVJkvOTePcfm4v/a7vjsBICwiAu0nzea+EM+Hi2cfzPY9vsMEWvt9k6t8VNvEP2o+3i9e3/8/AABMBoF28qjyzl4/phdobROfe/+FzR1/uD5gCQ0Ak0GgnTyqRHTfgUBzba727Xfruvzip0t7fgOBAsQDgXayfJxrJalv4Vcb99z39+vHkz7Pl58vP0KgAPEQEehGIF/8dLlomj334m+rfEF55x+/u/z62osfbr7/D99c3vDSp2uPLR3y1rMPrs+ufav4jk/yc5Fmz735p1X8bv6DivOTvvXz4u7vLu/91m+3H2d1MPsPzWMytUD+rfVfvChPfNo8usK97ZOhmuWVdW+qbIh0r7zX3C1e+sx/zEbmy6+e/3CBQAEiIibQ4qhNef7Qh4uWQPPwipfKn/HFd6q76wK9W31Hdffyq5WJcoFWx9df3vyyjiVkvqj7+h9/OutZGG7/4tpDLx9d7r/qtvKntMvbEmjdx8v7uuW9TbGJ/7/NI+6f/7sfLhYIFCAmYgK9O9uQ26Mu0NwSzXOLNrd87T9uBPrNKlH/hpXBlgL9m/VNP7zbvLPJ/f67Ng+r9os3dq9ePr1bPZTNA26Xty3Q2hP0qHFAaDePaj+zfQcCBYiFvUC3qAk0v/ulfLv95T/MSjFtNrW5ffL98R+/U92X35Iv91ZHmyuBzmZ/8eniyz+tjk7/cHn3s19dr31D8TM+yTfWxb3P/mHWKaqVEF/qlE9xX/44P/lO4xfnN335waz9y4rl6luLrvKq6tZVbk4I3f/ycJ3766eyCQIFiIiWQO9vXFZ9ulbL5hW+Z3c3y9MfFrcU5zuuPVbugfMFaGmUSiN31/c+2qwu73Y5ZqXGngM7m19cqPTlrV9WrAQ3v6x6e+V2eVsC3Rz2Xx/HGkTxQDr+H0CgABGRE2j7rZNrtdQ8V9qq5qNHNYFW1nvU+IZKoKWUam8Z73BM8Vrlc9f7jiDd3fziSuu1x1Id/Nn8suobtsvbFuh6D39/xA6+FGiHKhEoQES0XgMtXsr79t/+qZaovdlxs0MthFS/Ze3D+53CqI7HbMxXWzF2LPXyzf+bnz4qnfSo+Yi2HsrLi+YR80frm1rrze3ytgVa7eHH7eDLV1e3j4YhUICIaAl0fSTmW/+zSm0rZlFqoX3KTyXQ1rrt2b/8n59d3+yqX27+2EWXQKtlbPl6wN3Wz2z84tWWu34IaVZupmsH1MtHtV1eR3XlHn7rUW1+RceyuDyItP2SAwIFiIiWQOsier44U3O3QDcq6RboH4uzLjfWGSbQ9eq0eDRv5bv0t1r3b77hUadA8yK3BbpdXkd15csNW2+B2iXQ/CG+kP+zJUsEChARMYGWb0CcbTakBwh0cxroOIFupJOr9NrWuyGnC3SrvK7qirP9ty/PtEOg+V3LG9uXBm3WAgDBkRPoki//8bvX1xvSToEWQtq3hS9PA/3mt3/wm//3+hiB3m8eI9rSUs8Wvv2KZadAW+V1VVcoedR1PFdvRCoeRHsTj0ABIqIo0OKO9pmSuw8i5Z+3BXq/PA100TiINEyg6wf5qFpPdjzo6qG83PjJi9Y9rUfVLK9LoMUefu9FTGqsT0HYXFWkfh8CBYiFlEC7zLRWy/2hpzG90PwB5d3jtvBrm61P9KzTeigvN2+qXr7cEmhHeZ3r6+Ue/u9GXGC5dtHk6qoijVoQKEAspARa11C1phx0Iv1Xr28LdL0oXQVHHkSqHsb9ji1866FUB81rv616W2prBbpdXt8rvP/h9cHea2zcy838BgQKEBEtgeYaev7neSB/v2ahtY0H+9/K2XxHZW0FWmzhizdXjjqNKV/IPf/b/FpP1UH8lkEbD2XzWIrvyd83+sJi0SXQ7fLqL1Csf8fqcNHQHfz9ujO3NvEIFCAiWgKt/SmiSiHlwee3dl9MpEugzXc9tRaFOwW6+KD+jX+3/SafzRHxa99rPs7aYfKO10C3ymudvvXWOj54B9/atbc38QgUICJiAl3809p611a78/Ic8cI269OS2pezm7343ztOY1rr6tp/+sn63ZWDBFoz3YufNpeHm8dd/OS31kd7nq1PUFpdqa7zIFK7vPXD2FS5KE/rHPaEbi05W5t4BAoQETWBLr78VXENuG/9fB0r9tF/UXz6SX4C0HPtCyrnV0eu3krZON69usJx/qPut98ctEegy4dRXPh4dSXmZx9s76f/WFyL+cP6Ce9/LK7evLpU86LnKHyrvM3DqFU54m2c22cuFaeubm5BoAARMRZoLEa+c1ycEZdSBoCEeBZo8+rtKf56fCTGXEoZANLhWaD3Ny//dV+EySnbb+MEAEk8C7Q622iR/+2i4W/cUSe/GOnx/G8AcMx4FmjjTwwdiXLKc6+O5/VcgGPGtUA3Zw71/PEif6xObT2a1TTAceNaoOs/s/6DD/dHfZDv35/7YepHAQCDcC5QAIB0IFAAgIkgUACAiSBQAICJIFAAgIkgUACAiSBQAICJIFAAgIkgUACAiSBQAICJIFAAgIkgUACAiSBQAICJIFAAgIkg0P08TP0ADuah/xIYBQn8lxB4FCYJ9OrO+Xz+9r36TX/+8Xx+o7zp6a15wSsfB3iAAjBpFPBfAqOggIBAS0HW/fjRSpk3fpl/8eQcgWpB6yrAKCggINCL+c17i8vb85ufVbc8nt/460V+U+HMx/PXwj1AAZg0CvgvgVFQIL1An5wXmnx6a7XeXHJ1e/7+orip+HgxfzfQo9OASaOA/xIYBQXSC/RBucB8sPbk01vlbr1Q59XttVmPAyaNAv5LYBQUSC/Qi9Vys2unXgj06a2bv39vPv/Rvfa9XmHSKOC/BEZBgeQCXS8wn5xvXgRdsdrVV8eQSs/WeAgA4JmYAl1t7h/P5+98tvi3O/OtnXzq2gEADiKkQFvnKT1eKbN6jfRojiWxbVHAfwmMggK6W/jH5zfeb3w9b69QncKkUcB/CYyCArICfdDesm+tUL3CpFHAfwmMggLJBdpzFP6jrZc8t18jdQqTRgH/JTAKCqQXaHX+54Paa5xXF/NXy+VmdVb98bwhiUmjgP8SGAUF0gt0+51Ixbs7P9t8XohzLVL3MGkU8F8Co6BAeoEuzfhq673wD+rHi56c56cxXb53LMeQmDQS+C+BUVAgvUAXl7WrMT05X65Dq+vXLckXnw/KizEdy1uRmDQK+C+BUVBAQKCLyztLP75drC8LgT6eNwS6uMwvDvrOkaw/mTQa+C+BUVBAQaAnBpNGAf8lMAoKIFBzmDQK+C+BUVAAgZrDpFHAfwmMggII1BwmjQL+S2AUFECg5jBpFPBfAqOgAAI1h0mjgP8SGAUFEKg5TBoF/JfAKCiAQM1h0ijgvwRGQQEEag6TRgH/JTAKCiBQc5g0CvgvgVFQAIGaw6RRwH8JjIICCNQcJo0C/ktgFBRAoOYwaRTwXwKjoAACNYdJo4D/EhgFBRCoOUwaBfyXwCgogEDNYdIo4L8ERkEBBGoOk0YB/yUwCgogUHOYNAr4L4FRUACBmsOkUcB/CYyCAgjUHCaNAv5LYBQUQKDmKEyas/3s+G5aVwFGQQEEao7CpEGg/ktgFBRAoOYoTBoE6r8ERkEBBGqOwqRBoP5LYBQUQKDmKEwaBOq/BEZBAQRqjsKkQaD+S2AUFECg5ihMGgTqvwRGQQEEao7CpEGg/ktgFBRAoOYoTBoE6r8ERkEBBGqOwqRBoP5LYBQUQKDmKEwaBOq/BEZBAQRqjsKkQaD+S2AUFECg5ihMGgTqvwRGQQEEao7CpEGg/ktgFBRAoOYoTBoE6r8ERkEBBGqOwqRBoP5LYBQUQKDmKEwaBOq/BEZBAQRqjsKkQaD+S2AUFECg5ihMGgTqvwRGQQEEao7CpEGg/ktgFBRAoOYoTBoE6r8ERkEBBGqOwqRBoP5LYBQUQKDmKEwaBOq/BEZBAQRqjsKkQaD+S2AUFECg5ihMGgTqvwRGQQEEao7CpEGg/ktgFBRAoOYoTBoE6r8ERkEBBGqOwqRBoP5LYBQUQKDmKEwaBOq/BEZBAQRqjsKkQaD+S2AUFECg5ihMGgTqvwRGQQEEao7CpEGg/ktgFBRAoOYoTBoE6r8ERkEBBGqOwqRBoP5LYBQUQKDmKEwaBOq/BEZBAQRqjsKkQaD+S2AUFECg5ihMGgTqvwRGQQEEao7CpEGg/ktgFBRAoOYoTBoE6r8ERkEBBGqOwqRBoP5LYBQUQKDmKEwaBOq/BEZBAQRqjsKkQaD+S2AUFECg5ihMGgTqvwRGQQEEao7CpEGg/ktgFBRAoOYoTJotXWY5CNQTjIICCNQchUnTpc+WQnd8N62rAKOggGeBPoRptARaqbNpUJ5fgOikFKhTFP7Xbftz8ykrUC8wCgp4XoE6RWHSNP3Z+cWO76Z1FWAUFECg5ihMmoZAW8tRBOoDRkEBBGqOwqTp82fNoDu+m9ZVgFFQAIGaozBpev25MeiO76Z1FWAUFECg5ihMmn5/rg2647tpXQUYBQUQqDkKk6brAFJrVbrju2ldBRgFBRCoOQqTZpc/S4Pu+G5aVwFGQQEEao7CpOnfwK/v2PHdtK4CjIICCNQchUmz25/LuxCoPIyCAgjUHIVJU1myV6AZAlWHUVAAgZqjMGn2LEBzue74blpXAUZBAQRqjsKk2bMAze2647tpXQUYBQUQqDkKk2bfAnR5947vpnUVYBQUQKDmKEyafQvQ3UtQWlcBRkEBBGqOwqTZuwDduQSldRVgFBRAoOYoTJr9/ty1BKV1FWAUFECg5ihMmgECXfQblNZVgFFQAIGaozBp+t7EiUD9wCgogEDNUZg0+/2JQNVhFBRAoOYoTJphAu0zKK2rAKOgAAI1R2DSDNjBny36l6C0rgKMggII1ByBSTPAn4VAewxK6yrAKCiAQM1JP2mGLEDPFv1LUFpXAUZBAQRqTvpJM8SfCFQdRkEBBGpO+kkzXKDdBqV1FWAUFECg5iSfNIN28GerZOcPoHUVYBQUQKDmJJ80Sy0OFminQWldBRgFBRCoOcknzXCB9ixBaV0FGAUFEKg5qSdNhkAX6UfhcBgFBRCoOaknTS7F4QLtMiitqwCjoAACNSf1pBkj0O4lKK2rAKOgAAI1J/GkyRBojv8SGAUFEKg5yQW6GCXQDoPSugowCgogUHNcCbRzCUrrKsAoKIBAzUk7aTIEWuC/BEZBAQRqTmqB5v+OEei2QWldBRgFBRCoOb4E2rUEpXUVYBQUQKDmJJ00GQJd4b8ERkEBBGpOYoEWH0YJdMugtK4CjIICCNQcZwLtWILSugowCgogUHNSTpoMgZb4L4FRUACBmpNWoKuP4wTaNiitqwCjoAACNcebQLeXoLSuAoyCAgjUnISTJpso0JZBaV0FGAUFEKg5SQVafjJKoFtLUFpXAUZBAQRqDgJVwH8JjIICCNScdJMmmyzQpkFpXQUYBQUQqDkpBVp9Nk6g7SUorasAo6AAAjUHgSrgvwRGQQEEag4CVcB/CYyCAgjUnGSTJpss0JZBaV0FGAUFEKg5CQW6/nSsQBcIVA5GQQEEao5PgdYNSusqwCgogEDNSTVpskMEukCgajAKCiBQc9IJdPP5BIHWvpvWVYBRUACBmuNToPVvp3UVYBQUQKDmIFAF/JfAKCiAQM1JNGkyBFrHfwmMggII1JxkAq19MUmg6x9A6yrAKCiAQM1JM2myQwW6QKBaMAoKIFBzUgm0/hUC9V8Co6AAAjXHr0CrH0HrKsAoKIBAzUkyabLDBbroFOiknyQArauA/xIQqDmJBNr4EoHSugr4LwGBmpNi0rSvKT9RoOUPQaAKIFAFEKg5aQTa/Hqa9hCoEghUAQRqjmeBrn4MAlUAgSqAQM1JMGm2/rL7RO0hUCEQqAIKAr26cz6fv32vftOffzyf36hu6rjfM0kE2rrhMIEG+EnJoXUV8F+CgECf3prnvPLx5qaPilvmN37Zc79rXAt0y6AINBUIVAEBgV7Mb95bXN6e3/ysuuXx/MZfL/KbCmlu3+8bNwLtuDHLBoQQqAkIVIH0An1yXmjy6a3VenPJ1e35+4vipvzj9v3OsZ802wvH6QLN9ocQqAkIVIH0An0wf638+G55y9Nb5Xb9Ir9p+37npBBo+5apAm0vQRFoOhCoAukFerFabi737a9t3/Xuzvt9gkAVoHUV8F9CcoFe3S635k/O2y9yFrv2Hfc/hEEs993NGw4SaLY/tPWT0tQNIE9MgRabdwR6MG1/HiLQMwQKEI6QAm2dqPS4OI2p/36vmG9bpp69GU6ggrB5VMB/Cbpb+MfnN97fdb9bfAu0aVAEmg4EqoCsQB+Up9Ej0EPpOPv9EIGeIVANEKgCyQXac5T9o3l12idH4Q+kw5+HCTQbEEKg0UGgCqQXaHV+Z/08z6uL+asf77jfNd4FeoZAJUCgCqQXaNc7jS5q79vknUgHEl6g2YAQAo0NAlUgvUCvbs9fbb3X/UH9fe8d9/vGeNJ0vQR6mEDPEKgCCFSB9AJdXNautvTkfLnOLC+/lPNa6/5jwFygHTceKNBsQAiBRgaBKiAg0MXlnaUf3y7Wl4VAH88bAq3ffwz4F+gZAhUAgSqgINAT4xgEmg0IIdC4IFAFEKg5tpOm8yXQQwW6NigCTQcCVQCBmmMt0K5bDxVoZVAEmg4EqgACNedIBJoh0LQgUAUQqDmmk6Z7B3+4QM8QaGoQqAII1BxjgXbefLhAVwZFoOlAoAogUHOORKCFQRFoOhCoAgjUnGMRaP46aIZAk4FAFUCg5lhOmp6XQMMJNNsXQqCxQKAKIFBzbAXafXsQgZ5t/5ljBGoHAlUAgZpzTAJdDFmEGtY7HFpXAf8lIFBzDCdN3w4+nEAXA/bxdvWOgNZVwH8JCNQcU4H23BFOoANeCrWrdwS0rgL+S0Cg5hybQFcKRaDWIFAFEKg5xyfQPQeT7OodAa2rgP8SEKg5dpOm9yXQ4ALduQg1q3cMtK4C/ktAoOZYCrTvnuAC3fVKqFm9Y6B1FfBfAgI15zgFumMRalbvGGhdBfyXgEDNMZs0/Tv4KALtfSXUqt5R0LoK+C8BgZpjKNDeu+IItMegVvWOgtZVwH8JCNScIxZot0Gt6h0FrauA/xIQqDnHLNBOg1rVOwpaVwH/JSBQc6wmzY6XQOMJtOtQklG946B1FfBfAgI1x06g/ffFE2jHGtSo3nHQugr4LwGBmnPkAq391XgEGhMEqgACNcdo0uzawccVaNugNvWOhNZVwH8JCNQcM4HuuDOuQM8QqAEIVAEEas4pCDRrhgShdRXwXwICNcdm0uzcwccWaNOgJvWOhdZVwH8JCNQcK4Huuje2QM8QaHQQqAII1JzTEGhWDwlC6yrgvwQEao7JpNm9g48v0LpBLeodDa2rgP8SEKg5RgLdeXd8gZ4h0MggUAUQqDmnItBsExKE1lXAfwkI1JwTEegZAo0LAlUAgZpjMWn2vARqI9BsHRKE1lXAfwkI1Bwbge6+30KgZwg0KghUAQRqzukINEOgEUGgCiBQcwwmzb4dvI1AzxBoTBCoAgjUHBOB7gkYCTRDoPFAoAogUHNOR6BnCDQiCFQBBGrOKQk0Q6DRQKAKIFBz4k+avf60EugZAo0HAlUAgZpjINC9CTOBZgg0FghUAQRqTvRJs38BaibQwqCx650ErauA/xIQqDnxBbo/gkBpXQX8l4BAzYk9aQYsQBEorSuB/xIQqDmRJ80Qf1oKNEOgcUCgCiBQc05KoGcINBYIVAEEas6pCXTI47GH1lXAfwkI1Jy4k2aYsOwEeoZAI4FAFUCg5sQW6JAUAqV1FfBfAgI15+QEKmlQWlcB/yUgUHOiTpqBujIUqOgSlNZVwH8JCNScyAK1dONAgSoalNZVwH8JCNScUxOo5hKU1lXAfwkI1JyYkyZDoAOhdRXwXwICNSeuQG3dOFCgggaldRXwXwICNefkBDrwzABbaF0F/JeAQM2JOGkyBDoUWlcB/yUgUHOiCtTajcNCggaldRXwXwICNSfepMlUBTrkEqXG0LoK+C8BgZoTU6ALVYHKGZTWVcB/CQjUnFMUqJ5BaV0F/JeAQM2JNmkyYYHKGZTWVcB/CQjUnIgCzf81duOg0AKBhgeBKoBAzYk1aTIEOgJaVwH/JXgW6EOok2UP89E0duOgUPHostRPEIAcKQXqlHgr0OKDsRsHhWoPTwXWPgr4L8HzCtQpkSZNhkDHQOsq4L8EBGpONIGuPhq7cVBo9fikDErrKuC/BARqTpxJk6kLVGwJSusq4L8EBGpOLIGWnxi7cVCo+QgloHUV8F8CAjXndAWqZFBaVwH/JSBQc6JMmkxfoFpLUFpXAf8lIFBzIgm0+szYjYNC1WMUMiitq4D/EhCoOTEmTeZBoFJLUFpXAf8lIFBz4gh0/amxGweFth9lcmhdBfyXgEDNOWWB6hiU1lXAfwkI1JwIkybzIVClJSitq4D/EhCoOVEEuvnc2I2DQl2PMzG0rgL+S0Cg5oSfNJkfgcoYlNZVwH8JCNScGAKtfWHsxkGh7keaFFpXAf8lIFBzEKgCtK4C/ktAoOactkBVDErrKuC/BARqTvBJ05SSsRsHhfoea0JoXQX8l4BAzQkv0MZXxm4cFKo9VhWD0roK+C8BgZoTetJkngQqswSldRXwXwICNSe4QJtfGrtxUKj+aBFoIBCoAgjUnMCTpm0kYzcOCjUeroZBaV0F/JeAQM2Z/ox36imLpr1woToINBAIVAEEak5YgWYIdBK0rgL+S0Cg5gQWaDzthQvVEdnD07oK+C8BgZoTVKCZO4GKLEFpXQX8l4BAzQkp0LY/EehQaF0F/JeAQM0JKtCY2gsXaqCxh6d1FfBfAgI1J6BAtxagHgSqsQSldRXwXwICNSekQKNqL1yoCQINAgJVAIGaE06g2wtQJwIVMCitq4D/EhCoOQEFGld74UItEGgIEKgCCNScYALtWIAi0KHQugr4LwGBmhNOoJG1Fy7UQmEPT+sq4L8EBGpOKIF2LUB9CFRhCUrrKuC/BARqTjCBxtZeuFAbBBoABKoAAjUnkEA7F6BuBJrcoLSuAv5LQKDmhBFotz+dCFRgCUrrKuC/BARqDgJFoCFAoAogUHOCCDTzLtDUBqV1FfBfAgI1J5BARdw4KLQNAj0YBKoAAjUHgS4ElqC0rgL+S0Cg5iDQHAR6KAhUAQRqTgiB9vkTgQ6F1lXAfwkI1JwgArXQXrhQB6n38LSuAv5LQKDmBBBo7wLUj0BTL0FpXQX8l4BAzTlcoP3+RKBDoXUV8F8CAjUHgRYg0ANBoAogUHMOFmjfSfRJ3Dgo1Elag9K6CvgvAYGaE0CgQm4cFOoGgR4EAlUAgZqDQEuSLkFpXQX8l4BAzTlUoLt28K4EmnQJSusq4L8EBGrO4QJVcuOgUA8pl6C0rgL+S0Cg5hwo0J0LUF8CTWlQWlcB/yUgUHMOFqiUGweF+kCgB4BAFUCg5iDQNQj0ABCoAgjUnMMEunsH706gyQxK6yrgvwQEas6hAtVy46BQLwh0OghUAQRqzkEC3bMARaBDoXUV8F8CAjXnQIGKuXFQqJd0e3haVwH/JSBQcxBoDQQ6GQSqAAI15xCB7tvBI9Ch0LoK+C8BgZpzmEDV3Dgo1E+yPTytq4D/EhCoOQcIdO8C1J1Aky1BaV0F/JeAQM05SKCW2gsX2gECnQoCVQCBmoNA66Taw9O6CvgvAYGaM/0Z37+D9yfQVEtQWlcB/yUgUHMOEaip9sKFdhc1+fk4BFpXAf8lKAj06s75fP72vdatT2+9Vn0yL3jl4wMfnAgItFVUEoPSugr4L0FAoKUg2368mJcCfXKOQAsG7OAdCjTREpTWVcB/CQICvZjfvLe4vD2/+VntxquLeSXQx9UnR8IBArXVXrjQnrKmPiGHQOsq4L+E9AJ9cl4sLZ/euvHLzY1/fm++FujF/N0gj00FBNouK4VBaV0F/JeQXqAPSlE+qHnywXz+zr+Wt1/drpv1CECgW3VNfUYOgNZVwH8J6QV6MX+/+FjfqT949e/XXz+9dfP3y/Xoj9oHmdwy9Rkf4k8EOhRaVwH/JSQX6HqB+eS88SLoWqDVMaTSszUenhaZpBsHhfYUlmU2zyCAGvEF+ni5nf9s8W935ls7+dS125IdrUAfIlA4VUIKtHme0uP1a6Orj0dzLGnimj/TdOOg0L7SEuzh2Twq4L8E/S385uvm/W6Z9oxnRy1Qe4PSugr4L8GPQNsrVLdMesYLxRhrL1xoUHW20LoK+C8huUA7j8J3fd0WrFsQaHd1ttC6CvgvIb1Aq/M/H7Re4ywFenW7R7BuQaAd1ZkblNZVwH8J6QXa+U6kxUaYFy2RumfKM54dt0ATLEFpXQX8l5BeoEszvrr9XvjGeaDvfLa4fO9YjiFNFGj+r7H2woUG1mcJrauA/xLSC3RxWbsa05Pz9Tp0vWV/UF6M6VjeioRAu+qzNiitq4D/EgQEuri8s/Tj28X6skugi8sfz+c33jmS9eekSZMdu0Dtl6C0rgL+S1AQ6IkxSaDFB2PthQsNrtAOWlcB/4rabUsAACAASURBVCUgUHMQaGeFxgaldRXwXwICNWf8M54dv0DNl6C0rgL+S0Cg5kwR6OqjsfbChUbUaAWtq4D/EhCoOQi0u0Zbg9K6CvgvAYGaM/oZz05BoNZLUFpXAf8lIFBzJgi0/MRYe+FCo6q0gdZVwH8JCNScExTokJDxHp7WVcB/CQjUnLHPeHYaAjVegtK6CvgvAYGaM16g1WfGRjMOIdBxIFAFEKg5CLQ7ZLuHp3UV8F8CAjUHgXaHbJegtK4C/ktAoOaMfMYzBBoDWlcB/yUgUHNGC3T9qbHRjEMIdBwIVAEEag4C7Q7ZvghK6yrgvwQEas64Zzw7HYGaLkFpXQX8l4BAzRkr0M3nxkYzDiHQcSBQBRCoOQi0O2S7h6d1FfBfAgI1B4F2hxamS1BaVwH/JSBQc0Y94xkCjQOtq4D/EhCoOZ3PeJ9Xsiyd0YxDC9M9PK2rgP8SEKg5CLQ7lINAh4NAFUCg5owRaIZALUfBFQhUAQRqzjiBJjSacSjHbg9P6yrgvwQEag4C7Q4VINDBIFAFEKg5CLQ7VGC2BKV1FfBfAgI1Z4RAs5MTqNkSlNZVwH8JCNScUQJNaTTj0AoEOhQEqgACNQeBdodWWO3haV0F/JeAQM1BoN2hEgQ6EASqAAI1Z7hAs9MUqIlBaV0F/JeAQM0ZI9CkRjMOVSDQYSBQBRCoOQi0O1SBQIeBQBVAoOYg0O5Qhc0entZVwH8JCNScwQLNTlOgNktQWlcB/yUgUHNGCDSt0YxDaxDoIBCoAgjUHATaHVpjsoendRXwX4KJQL/6y5f+FPTXuGaoQLNTFajJEpTWVcB/CTYCfX02e+7NT4P+Jr8MF2hioxmHNiDQISBQBUwE+uyDWc7zP8ehCwTaF9qAQIeAQBWweg30j98tHPqtnwf9dS5BoN2hDRYvgtK6CvgvwfAg0icrh774YdDf6I+BAm2/BCqqvXChGgh0AAhUAdOj8M8++U6u0GtvnvQhpcECTW0041ANBDoABKqA9WlMX/70erGVP+FlKALtDtUw2MPTugr4L8F2Bfqrb8wqXgr6ez2BQLtDdRDofhCoAnYCreyZH4v/8oPZ7OWgv9gRwwS69RKoqPbCheog0P0gUAWMBFq++rk5G/TR7Ounek7TUIEmN5pxqE78PTytq4D/EmzOA/3JrH3w6KvXv/a7oL/ZDwi0O9QAge4FgSpg9k6ka83Tl756nRVonS2hINAEo+AKBKqAkUBf/G3rpme/OdlTmQYJdPslUFHthQs1iL6Hp3UV8F8CV2MyZ6BA0xvNONQEge4DgSpg8xroz76/2a9//r1/f6qb9xUItDvUBIHuA4EqYLSFrx0xOuHDRysQaHeoSew9PK2rgP8S7AX6+XUEuk1LJx0vgYpqL1yoBQLdAwJVILZA8wPwbU72+PuKYQIVMJpxqAUC3QMCVSD6CvTRtkDfCvor3YFAu0MtIu/haV0F/JcQXaDP/vcbb3zv+rVvv1Hxg/YZTacGAu0OtUGgu0GgCti/BnryDBBo10ugotoLF2qDQHeDQBWwP43p5BkkUAWjJQ51vpcg7ii4AoEqwIn05iDQgSEEuhMEqkBkgT772RvLxefy3zonvhzdL9DOHbyA0YxDCHQnCFSByAL96vXZ137XPpfpxF8QHSJQc1kphrouiRp3FFyBQBVAoObsFWj3AlTAaNYhBLoLBKoAr4GaM0CgCWSlGEKgu0CgCiBQcxDo0FDHX3aOOwquQKAKIFBz9gm0ZwevYDTrEALdAQJVwFagz/75178J+vs8sl+gSWSlGEKgO0CgClgJ9Iv/8eli8VX+l+We/0WoX/bwaECgfQLNWqHUIwUQlIECvV8cer/LQfgFK9AxoS2Bxh0FV7ACVcBmBfqo0Obn12df//SL10/3L8Kv2CPQvpdANYxmHEKg/SBQBWwEere4Buij2bVfnPRfhF+xV6CJZKUYav1vEnsUXIFAFTD6u/C5OUuNnvylmRDoiBAC7QWBKmB4ObuvXp+9sECgCHRMqLkEjT0KrkCgChgK9PPrxbXoEWjXjT3GMJWVZAiB9oFAFTDcwt8vXgLlNdB9Ak0nK8UQAu0DgSpgdRDphfzwe25OjsIj0DGhxoo89ii4AoEqYHYa0+qvyT376Wy1Dj1hEOioEALtAYEqYPROpPu5P18oDiRdO/E/yrlboP0vgcoYzTiEQHtAoAqYvZXzZ9//+fLDV3/54odBf6FD9gg0pawUQwi0BwSqAFdjMgeBjgvVnpLYo+AKBKoAAjUHgY4MIdBOEKgChgL9l4o/Bf2V7tgl0B0vgQoZzTi0eU5ij4IrEKgCRgL94qf8TaSK3QJNLCvJEALtAoEqYCPQ5l+VQ6DbVKpAoB2sn5XYo+AKBKqAjUDvz2bP/+DXFb/hnUhbtFWRTFaSIQTaAQJVwOitnMVlRKBgh0B3vQQqZTTjUPW0xB4FVyBQBYwuJnLq7z6qs1Og6WUlGSqfmNij4AoEqoDh1ZhgBQKdEEKgWyBQBSwvqAwFCHRCaPXMxB4FVyBQBawOIp34FZjq9At050ugYkazDiHQNghUARuBLpegPwz6ezyzS6AaslIMFc9N7FFwBQJVwGYL/7PvzWbXvv1Gyfc5jWmLjSQEZCUZQqAtEKgCRgeRZpxIvwaBTgrlT07sUXAFAlUAgZrTK9DdL4HKGc06hECbIFAFuBqTOTsEKiMrxdDy6Yk9Cq5AoAogUHMQ6MQQAm2AQBWwFOizE7+OXQkCnRjKstij4AoEqoCZQD/5bv7i51d/+eZpH4Jf9At0z0uggkazDoU0KK2rgP8SjAT67IPV0aOvXp89f9qHkHYJVElWkiEEWgOBKmAk0Luz2fN/df1rv3v232bFX4c/ZRDo5FDAJSitq4D/Esz+LvwPy0uK/OH67MT/rjECnR5CoBsQqAI2Ar2bvxe+vCbT/VO/NmiPQPe9BKppNGuBBjMorauA/xIMr8ZUCvTz65xIv83+Baim0axDCHQNAlXA8HqgpUBP/uKgCPSAULAlKK2rgP8SEKg5CPSAUDCD0roK+C/B6m8ivbU256NTPwzfLdC9L4GKGs04FGwTT+sq4L8Eqwsqv1AJlD8w1ydQSw+5DQVbgtK6CvgvwUagn1+fvfRpIdAvvjM79T/vgUAPCC1CGZTWVcB/CUYn0t+fzWbfvH7t299Yfjz1v+6BQA8M7T3da/IouAKBKmD1Xvh/ul5dDfTU/dk9afa/BCpsNOPQ3msGTB4FVyBQBcwuJvLlr765tOdzL34Y9Pd5pEeg5h7yG9p34enJo+AKBKoA1wM1B4EeHNrz10snj4IrEKgCCNQcBHpwaOcLHgeMgisQqAKxBfrlv2xz4tdV7nrGB7wEKm006xACRaAaRBZo68/J8UflFn0CTeIhv6EdT9j0UfAFAlUAgZqDQEOE+p+x6aPgCwSqQGSBPvvnXxf8w2x27ft/++tf/803Ztfe/A1v5WyDQEeHep+y6aPgCwSqgM1BpOVCtDr98w+nvgDtmjRDXgKVN5pxqPc5mzwKzkCgChheULmECypv3zTEn/JGsw71GXTyKDgDgSpgeEHlks+vczWmNgh0SgiBusd/CYbXA+364hRBoKFC3U/b5FFwBgJVwEigjRUoAm0x6CVQD0azDiFQ5/gvweo10Bc6Pz9JugTqQFaKoc7/eKaOgjcQqAJmf9b4pdULn88+mPFnjdsg0KkhBOob/yUYvRf+7mw2+9Ybb7yRXw/0paC/0R9bz3iGQCcLtMOgE0fBHQhUASOB5gtPrge6okOgqT3kN9Rh0Imj4A4EqoDh9UDz1edzb574lUQWCDRsCIF6xn8JXM7OHAQaMrS9BJ04Cu5AoAogUHPaz3iGQA8JbRl02ij4A4EqgEDN2RboQsBDfkMI1C/+S0Cg5iDQsKH2EnTaKPgDgSqAQM1BoIFDCNQt/ktAoOa0nvEMgR4Yai1BJ42CQxCoAgjUnC2B5v8KeMhvCIF6xX8JCNQcBBo61FyCThoFhyBQBRCoOQg0eAiBOsV/CQjUnOYzniHQw0ONJeiUUfAIAlVAQaBXd87n87fvtW59euu1nfe7pS3Q4oOEh/yGEKhP/JcgINCnt+Y5r3zcvPli/trO+93SeMYzBBoiVF+CThgFlyBQBQQEejG/eW9xeXt+87PajVcX80qgnfc7piXQ1UcND/kNIVCX+C8hvUCfnBdry6e3bvxyc+Of35tXAu283zMINEKotgSdMAouQaAKpBfog1KUD+bv1m6bv/Ov69u373dN/RnPEGigEAL1iP8S0gv0Yv5+8fFxtWVf8uDVv19/3XW/a5oCLT8xUMxxhzZL0PGj4BMEqkBygV7dLrfmT86bL3KWwuy9P3/s3lkuQIuPOh7yG6oJNPGoAgwGgR5C6U8EGkKg2TqUdlABhhNSoM0TlbYFeiQnMtWes/UOXsdDfkMbgY4cBaewhVfA8xbeKZtnPEOgAUPVEnTsKHgFgSqAQM2pC3T9qY6H/IYQqDv8l5BcoL1H2U/gKDwCDRoql6BjR8ErCFSB9AKtzu9sn+f5uHX+5xGeB4pAw4YQqDf8l5BeoH3vNHp89O9EyhBo2NBqCTpyFNyCQBVIL9Cr2/NXu97rXgm073631AS6uVHJQ35DCNQZ/ktIL9DFZe1qS0/O1+vM9Wuel8d6NSYEGjpULEFHjoJbEKgCAgJdXN5Z+vHtYn3ZJdD6/ccAAo0XQqC+8F+CgkBPjOoZzxBo8FC+BB03Cn5BoAogUHM2Aq3dqOUhvyEE6gr/JSBQcxBoxNByCTpuFPyCQBVAoOYg0JihxrM6YBT8gkAVQKDmlM94hkCjhBCoI/yXgEDNWQu0fqOlYo47NHAJSusq4L8EBGoOAo0bQqB+8F8CAjVn9YxnCDRSaNgSlNZVwH8JCNScSqCNG00Vc+QhBOoG/yUgUHMQaOTQoCUorauA/xIQqDnFM54h0HghBOoF/yUgUHNKgTZvNFbMcYeGLEFpXQX8l4BAzUGgsUNDlqC0rgL+S0Cg5uTPeHsHL+kht6EhS1BaVwH/JSBQc1YCbd1orJjjDg1ZgtK6CvgvAYGag0Bjh4YsQWldBfyXgEDNQaCxQ4sBS1BaVwH/JSBQcx52vAQq6SG3ocWAJSitq4D/EhCoOQ+72ttYMccdykGgHvBfAgI1B4HGDuXsW4LSugr4LwGBmvOwYwcv6SG3oQIE6gD/JSBQcx52rY6MFXPcoYI9S1BaVwH/JSBQcxBo7NAKBKqP/xIQqDkINHZoxe4lKK2rgP8SEKg9HS+BSnrIbah6nncNAq2rgP8SEKg9XUsjY8Ucd2jH87yG1lXAfwkINDpbHZ5lyRVz3KEKBKqO/xIQaHTaDZ4h0Mihil1LUFpXAf8lINDotBt825+iHnIbWoNAxfFfAgKNTrvBEWjs0JodS1BaVwH/JSDQ6LT6u2MHL+oht6EN/QaldRXwXwICjU6rvzv8Keoht6EaCFQa/yUg0Oi0+huBRg/V6F2C0roK+C8BgUan2d5dO3hRD7kN1UGgyvgvAYFGp9neXf4U9ZDbUJ2+JSitq4D/EhBodJrtjUDjhxogUGH8l4BAo9NsbwQaP9SgZwlK6yrgvwQEGp1Gd3e+BCrqIbehJgP+SLxLEKgCCDQ6je7u9Keoh9yGWhypQRGoAgg0Oo3uRqD2oe63LrgHgSqAQKOzr5fj2oNQz+Vb3INAFUCg0Wm2srk9CHUZNPWkCAACVQCBRqfZyfb2INRh0NSTIgAIVAEEGp1dfWxiD0Lb/3OlnhQBQKAKINDo7GhjI3sQ2nrqU0+KACBQBRBodPq72MwehNrPfepJEQAEqgACjU69hxFoulDjyU89KQKAQBVAoNHpaWFbexBq/veVelIEAIEqgECjU2/hZPYg1DRo6kkRAASqAAKNTr2D09mDUMOgqSdFABCoAgg0OrX+TWkPQnWDpp4UAUCgCiDQ6GzaN609CNUMmnpSBACBKoBAo7Np3sT2ILQxaOpJEQAEqgACjc66d5Pbg9DaoKknRQAQqAIINDrrzk1vD0KVQVNPigAgUAUQaHSqvlWwB6HSoKknRQAQqAIINDpV20rYg9DKoKknRQAQqAIINDrrppWwB6FiMFJPigAgUAUQaHTKnlWxB6EjMSgCVQCBRqdsWRl7EDoOgyJQBRBodMqG1bEHoaMwKAJVAIFGZ9WvSvYgdLbI3CsUgSqAQKOT9ysClQu5NygCVQCBRuds7w5eVDHHHSoUmnpuHAICVQCBRuds7wJUVDHHHVp4NygCVQCBRucMgSqGclwbFIEq4FmgDz2Qt/O+HbyoYo47VIzOcmQSzw84bVIK1An7F6Ciijnu0ArHa1BWoAp4XoE6Yf8CVFQxxx0qQaAp8V8CAo3O/gWoqGKOO1Th1qAIVAEEGh0EKhla49WgCFQBBBqd/Tt4UcUcd6g+QKmmxkEgUAUQaHT2+1NUMccdqg+QS4MiUAUQaHQQqGSoMUKJpsZBIFAFEGhsBuzgRRVz3KHmGKWZGweBQBVAoLEZ4E9RxRx3qDVISebGQSBQBRBobBCoZqg1SimmxmEgUAUQaGSG7OBFFXPcofYwpZgcB4FAFUCgkRniT1HFHHdoa5wSTI6DQKAKINC4DFqAiirmuENbI2U/OQ4DgSqAQOOyXNgYi4HQRIF6MygCVQCBxgWBqoa6hsoVCFQBBBqVDIGqhjoGy3p2HAYCVQCBRiVf1RiLgdBkgfoyKAJVAIFGBYHKhnpGyw8IVAEEGpMMgcqGusfLdn4cBAJVAIHGpGhIYzEQOkSgjgyKQBVAoDFBoLqhngHzY1AEqgACjUiGQHVDu4bMBQhUAQQakVUzGouB0CECdWRQBKoAAo1HhkCFQ/2jZjU/DgSBKoBA41G2orEYCB0mUDcGRaAKINB4IFDl0N5xUweBKoBAo5EhUOXQrpGzmB4Hg0AVQKDRqBYyxmIgdLhAXRgUgSqAQGORIVDp0O6xiz8/DgaBKoBAY7FuQmMxEDpcoC428QhUAQQaCwSqHRo2eMIgUAUQaCQyBKod2jd8kefH4SBQBRBoJDYdaCwGQkFC2dl+y6YFgSqAQOOQIVDfofyPAaacQPtBoAog0DjUtoBaYiA0MLQ0aML5MwAEqgACjQMCdR9SfxkUgSqAQOOAQN2H1K/LhEAVQKBRqPeeYc8TChlCoNHxXwICjUK99Sx7nlDIkLZBEagCCDQGGQI9ipC0QRGoAgg0Bo2+s+15QiFDygZFoAog0AhkCPRIQsoHkhCoAgg0PK2mM+55QgFDygZFoAog0PAg0KMJKRsUgSqAQIPTbjnjnicUVKC6BkWgCiDQ4LQbzrjnCYUVaG5QSYUiUAUQaHAQ6PGEygGVNCgCVQCBhmar24x7nlBogYpu4xGoAgg0NFu9ZtzzhMILVHIRikAVQKCB2e40454nFEGgigZFoAog0MBs95lxzxOKIVDBbTwCVQCBBgaBHmsoyy9S3xVKBAJVAIGGpWOdkrDnCYUMdRs0xSwrQKAKINCwdOzzUvY8oZChrEuhCSbZCgSqAAINStcLZUl7nlDIUJdBE8yyFQhUAQQalK4DDWl7nlDQ0LZB7SdZCQJVAIEGBYEee2hrEWo/yUoQqAIINCSdp7ok73lCIUNtg9rPshIEqgACDUnnqYLpe55Q0FDToOaTrAKBKoBAA9J9rrVCzxMKGWoY1HyWVSBQBRBoQLrfqyLR84RChuoGtZ5kaxCoAgg0IAj0VELZ5pVQ60m2BoEqgEDD0fNuaZGeJxQytDGo9Sxbg0AVQKDh6LnahErPEwobKg1qPMk2IFAFEGgw+i7XI9TzhEKGVgY1nmUbEKgCCDQYfZc7U+p5QiFDhUFtJ1kNBKoAAg0GAj25UG5Q20lWA4EqgEBD0XvBXa2eJxQylPIqywhUAQQait5WsmtnQuahhAZFoAooCPTqzvl8/va9vpue3poXvPJxgAcYjf5OMmxnQuahdAZFoAoICLQUZN2PjZuenPsQaN89lu1MyDyUzKAIVAEBgV7Mb95bXN6e3/ys+6bH89eCPb54INBTDaUyKAJVIL1An5wXS8unt278svumi/m7wR5fNHZ0kW07EzIPJTIoAlUgvUAflAvMBxtPNm66ur0xqy47esi4nQlZhxIZFIEqkF6gF/P3i4+1nXrjpqe3bv7+vfn8R/e6vlmFXS1k3M6EzAWaxqAIVIHkAl0vMJ+cVy+CNm+qjiGVUq3xMDG1/ur+k+FJ2pmQdWg5FZYGTT0bwSXxBfp4Pn/ns8W/3Zlv7eTT177uIgR6wqF8LmBQmERIgVbnKTVvql4QVTyWVDVR198LT9XOhOy38IsUu3i28Arob+ErHtfPcxKhaqJ+f4r2PKHQArU3KAJVwI9ANytUHcoe2rEAFe15QsEFam5QBKpAcoHuPQpf0bCpCGUP7fCnaM8TCi9Qa4MiUAXSC7Q6/7NxHujmpqvbXTYVoewhBHrSoTWZqUIRqALpBbrvnUgXK3GuRapE2UMI9KRDG0wNikAVSC/QpRlfbb0XvnHTk/P8NKbL9wSPIZX9tcufoj1PKIpATbfxCFSB9AJdXNYuvfTkvFiH1m9abuRXXwi+FanooJ3+FO15QpEEargIRaAKCAh0cXln6ce3i/VlKdD6Tcsvfjyf33hHb/256q/d/hTteUKxBGpnUASqgIJA/XK215+iPU8omkDNtvEIVAEEeghnCJTQdmj7vOAYkw+BKoBAD2H3OfTxO5WQZmhrVsSYfAhUAQR6CPsXoArtTMg81DZojMmHQBVAoIeAQAl1h1oGjTH5EKgCCPQQ9u/gNdqZkHmoOTNiTD4EqgACPYT9C1CRdiZkHmoYNMbkQ6AKINBD2L8AVWlnQuah+uSIMfkQqAII9BD2+1OmnQmZh2oGjTH5EKgCCPQQECihHaGNQWNMPgSqAAI9BARKaFdobdAYkw+BKoBAD2CAP5XamZB5KCsVGmP2IVAFEOgBDPCnVDsTMg+VBo0x+xCoAgh0OkMWoFrtTMg+VCg0xvRDoAog0OlkWp1KSDMU6/p2CFQBBDqZDIESGhSKY1AEqgACnUym16mENENRDIpAFUCgU8kQKKGhoRgGRaAKINCJFB1h2oSEHIcivBCKQBVAoBNBoITGhMIbFIEqgECnkSFQQmNC4f9UEgJVAIFOY9UMxk1IyG9oEdygCFQBBDoNBEpoVGg1aUIaFIEqgECngUAJjQqVsyagQhGoAgh0EmUfGDchIb+hat6EMygCVQCBTqLsAuMmJOQ3tJ45wQyKQBVAoFPIECihcaHa3AlkUASqAAKdQtUCxk1IyG+oNnkCGRSBKoBAJ5AhUEIjQ43pE0ShCFQBBDqB9fQ3bkJCfkON+RPEoAhUAQQ6ngyBEhobak+hwxWKQBVAoOPZTH3jJiTkN9SeQ4crFIEqgEBHkyFQQoeHqr83Vw+NAoEqgEBHU1s4pG5CQp5DbYOOnIcIVAEEOpYMgRIKE2otQkdORASqAAIdS/2VK4EmJOQ41DToyImIQBVAoCPJECihcKG6QUfORASqAAIdSePQqUYTEnIcqi1CR85EBKoAAh1HhkAJBQ1tDDpyKiJQBRDoOJrn7qk0ISHPocqgI6ciAlUAgY4iQ6CEgodKg46ciwhUAQQ6hvabR4SakJDj0MqgIycjAlUAgY5g6813Sk1IyHGoeCF05GxEoAog0BFsvXlZqgkJOQ5NeGs8AlUAgQ5ne4prNSEhz6HRBkWgCiDQ4WxPcMP+InTsobEXaEKgCiDQwXTMbsv+InTsoZEGRaAKINAeOuZ3vNYhRKg4Cj/GoAhUAQTaw9b0bl+9UbUJCfkNjTIoAlUAgfbQnt3b/hRtQkJ+Q4sxBkWgCiDQHtqze9ufok1IyG8oZ/ALoQhUAQTaQ2tydyxARZuQkN9QwVCDIlAFEGgPrcnd4U/RJiTkN1QyzKAIVAEE2kNzbnctQEWbkJDfUMUggyJQBRBoD8253eVP0SYk5De0ZohBEagCCLSHxtTuXICKNiEhv6ENAwyKQBVAoD00pnanP0WbkJDfUI39BkWgCiDQHuozu3sBKtqEhPyG6uw9GI9AFUCgPdRndrc/RZuQkN9Qg30GRaAKINAeahO7ZwEq2oSE/IZa7DYoAlUAgfawmdd9/hRtQkJ+Q212Xp8JgSqAQHvYzOs+f4o2ISG/oS12GRSBKoBAe1hP694FqGgTEvIb6qLXoAhUAQTaw3pa9/pTtAkJ+Q110rcIRaAKINAeqlndvwAVbUJCfkPd9OzjEagCCLSHalb3+1O0CQn5DfXRqVAEqgAC7aGc1DsWoKJNSMhvqJ8OhSJQBTwL9GE8qgm/y5+iTUjIb2gXa4VGnPZgTmuUj20Fusufok1IyG9oN61VKCtQBTyvQKNSTOmdC1DRJiR0vKGGQhGoAgi0h9WElWkdQoRyspIFAtUAgfawmq1CrUOIUB5aKxSBKoBAe8gn625/avYXoWMP5WzWob5BoC2OSqB7FqCi/UXoyEMrjkOhCLTFMQl0nz9F+4vQkYc2+JcoAm1xVAK17ApChCac6+RdoQi0xREJdO8CVLS/CJ1YqFBoO+QEBNrieAS635/pW4cQoZwthaZunsEg0BZHI9AB/lRoHUKEcrKmQ1N3z2AQaIvjEahAVxAiNDjUUGjq7hkMAm1xLAIdsgBVaR1ChAo2Ck3dPoNBoC2ORKBZJtMVhAgNDlUKTd0/g0GgLY5FoEpdQYjQ4NBKoan7ZzAItMVxCDRDoIS8hlydGIpAWxyFQIv5p9UVhAgNDjlSKAJtcRwCzf8xnPCECIUNuVEoAm1xDALNECgh7yEnCkWgLY5CoMW/xhOeEKGQIScKRaAtjkCgGQIl5D60msnyDkWgLY5BoKsPxhOeEKHQAnWgUATawr9AMwRKyH+oNp+VFYpAW7gX6HqyGU94QoSiCFT7mqEItIV/gVafGE94QoSihbLWxZqqUHoQaAvvKO0dmgAACfFJREFUAs0QKKGjDG0rNGWfVSDQFs4FWtvopJ7whAiFDbUVmrDP1iDQFt4Fuvk0/YQnRChsSO+qywi0hW+BZgiU0FGHstrLoen6bAMCbeFcoLXPNSY8IUJhQ9maZG1WA4G2cC3QDIESOomQjEQRaAvfAq1/ITXhCREKHcrq2/kdPykqCLSFZ4FmCJTQaYWyFl2hqCDQFo4F2trPWM9lQoSShNoSbYo0ctMh0BaeBdr8MsVcJkQoZahDo5GbDoG28CvQ9gvqiecyIULJQnWLxu06BNrCrUC3ZorIXCZEKFHIQqMItIVfgbZvkJrLhAilCUWWKAJt4VWg29PDdJoSIqQaWrVHJI0i0BZOBdoxL4ynKSFCmqFNjzQJ0ngItIVXgW7fZDxNCRHSDLU6JaxGEWgLpwLtwHiaEiKkGeohjEgRaAsXAjWegYQIOQ7t5NAFKQJtgUAJETqq0CCmShSBtkCghAidXqhktEQRaAsESojQ6YVqjJIoAm2BQAkROr1Qi8H7eQTaAoESIkTorP4epirUAQJtgUAJESJUUZNoZysi0BYIlBAhQnV2becRaAsESogQoTZ9EkWgLRAoIUKEukJdR5YQaAsESogQoc7QYvvwPAJtgUAJESLUGaoIe0GnxCDQ6POGECFCZ80ePBqJItDo84YQIUIdodaJoquQNxCo+bwhRIhQSUuhqdUwHgSaZN4QIkSopLYQTa2G8SDQZPOGECFCBdMvKJocBJpw3hAiRKjCp0IRaOp5Q4gQoRJ/EkWgkacEIUKEhoe8beYRaPQpQYgQoaGhHE8KRaDRpwQhQoTGCDTHy0IUgUafEoQIERor0Ol/qM4WBBp9ShAiRGi8QAvkJYpAo08JQoQITRToiqyFqS52g0CjTwlChAgdJNCctkRFnIpAo08JQoQIhQztcampUhUEenXnfD5/+17vTR33H4TtaBMiRCh2KJlRBQT69NY855WPe27quP8wko82IUKEIoeGLVMP1quAQC/mN+8tLm/Pb37WfVPH/YdhO5CECBESeDV1rFGHOTW9QJ+cF2vLp7du/LLzpo77D8R4IAkRIiQaWjNVqOkF+mD+Wvnx3c6bOu4/EOMxIkSIkMNQ+P3+fiYI9GL+fvHxcSnK9k0d9x+I0BgRIkRIPVSiKdCr2+XW/Ml59SJn46aO+yseTmJ6cQAA3UyzUVtHCBQAThABgVYnKjVu6rjfOf4Vfgz/C/kvgVFQIPlBpANWoE5h0ijgvwRGQQEEag6TRgH/JTAKCiQXaIKj8Ilh0ijgvwRGQYH0Aq3O72ycB1q7qeN+3zBpFPBfAqOgQHqB2r8TKTFMGgX8l8AoKJBeoFe356+23uveuKnjft8waRTwXwKjoEB6gS4ua1dbenJerDPrNzW/OAKYNAr4L4FRUEBAoIvLO0s/vl2sL0uB1m9qfeEfJo0C/ktgFBRQEOiJwaRRwH8JjIICCNQcJo0C/ktgFBRAoOYwaRTwXwKjoAACNYdJo4D/EhgFBRCoOUwaBfyXwCgogEDNYdIo4L8ERkEBBGoOk0YB/yUwCgogUHOYNAr4L4FRUACBmsOkUcB/CYyCAgjUHCaNAv5LYBQUQKDmMGkU8F8Co6AAAjWHSaOA/xIYBQUQqDlMGgX8l8AoKIBAzWHSKOC/BEZBAQRqDpNGAf8lMAoKIFBzmDQK+C+BUVAAgZrDpFHAfwmMggII1BwmjQL+S2AUFECg5jBpFPBfAqOgAAI1h0mjgP8SGAUFEKg5TBoF/JfAKCiAQM1h0ijgvwRGQQEEag6TRgH/JTAKCiBQc5g0CvgvgVFQAIGaw6RRwH8JjIICCNQcJo0C/ktgFBRAoAAAGiBQAICJIFAAgIkgUACAiSBQAICJIFAAgIkgUACAiSBQAICJIFAAgIkgUACAiSBQAICJIFAAgIkgUACAiSBQAICJIFAAgIkgUACAiSDQI+bPP57Pb7x9b/XF1Z3z+bz6Auyoj8LTW/OCVz5O/KBOjj+/txyF//LZ6ouAvYBAj5ePVs1645f5F2Xr0rnWNEbhyTkCTcKD1fP+avG8h+wFBHq0PJ7f+OvF4vL2aqJczG/ey7+4+Vnqx3VaNEfh8fy11A/oJHlyXozCe6unP2QvINBj5er2/P384/K/2/fzGVQ08NNbq5UQGNEchWXrvpv04Zwq5fO+6oKgvYBAj5Wnt8otSjF5HpRLnwd0sCnNUbi6zf9fKVmNRtBeQKBHT9G6F6uFEHvIVBSj8PTWzd+/N5//iEN5aXhynu/ag/YCAj12ip3KeumzmkJgzWq/WB1DKjsYbPnX8/yJD9sLCPTYKTYsCDQxq23j4/n8nc8W/3Znzk7enov5/MbfLxAojOJx0ay1ScMZNAlYjcL61TeOJdlz9b/+8/n8xn8N3QsI9Lh5fH7j/QUr0MSUo7D5mrPJkvDnfA/PChQG86DcLCLQlDxob9nZByQi/58LgcJQPlp3Lkfh0/HR1kue/DeWiOKJ5yg8DOLqonzr2mJzzhvngVpTG4XqrHr+GzNm/cQXAg3aCwj0eLmovdLGO5FSUR+Fi5U41/0MRlysj969xjuRYBgP6kcqlj37Ku+FT0BjFJ6c56cxXb7HKBizeuKvPipPSQnYCwj0WKmunLYk/9/3kqsxpaA1CuVFgV7hrUjGPC6vifV+/kXIXkCgx8rjeaN1F5d3lp+9zcrHlq1RyC8O+g6jYM5l/dq4AXsBgQIATASBAgBMBIECAEwEgQIATASBAgBMBIECAEwEgQIATASBAgBMBIECAEwEgQIATASBAgBMBIECAEwEgQIATASBgl/uzmYvr794NJu9sP7i8+svdH0DQFgQKPjlq9dn136x+fxrv6vuePaTGQIFAxAoOGa56qysuVyNvlXdvPQnAgULECh45m5lyvu13fwX35khUDABgYJnlhv3YuH5+fXZ1z9d3fTsV9dnCBRsQKDgmtUmfrlnr14Mzbfv1/6O10DBBAQKvik28bXD8UuBvvQpB5HABgQKvsk38X9V27E/+8cPOQoPViBQcM6j/BXPzRlMBQgUbECg4J37s9oZTCsQKNiAQME7CBSSgUDBOZ9fZwsPqUCg4Jv87Zzfm63PAl2BQMEGBAq+yc9gys/9fLl+IwIFGxAouOZRsfhcbuPXVxXJQaBgAwIFzyzNWbz8eb+5iUegYAMCBcfke/e3qk9ebtyOQMEABAqOWV+MqbWJR6BgAwIFv9QuB9rcxCNQsAGBglvqF6RvbuIRKNiAQMErrdc965t4BAo2IFAAgIkgUACAiSBQAICJIFAAgIkgUACAiSBQAICJIFAAgIkgUACAiSBQAICJIFAAgIkgUACAiSBQAICJIFAAgIkgUACAiSBQAICJIFAAgIkgUACAiSBQAICJIFAAgIkgUACAifx/TvyxYXEcLsw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2705458" y="190215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endParaRPr lang="en-US" sz="2200" dirty="0">
              <a:solidFill>
                <a:srgbClr val="FFFFFF"/>
              </a:solidFill>
            </a:endParaRP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lang="en-US" smtClean="0">
                <a:solidFill>
                  <a:srgbClr val="FFFFFF"/>
                </a:solidFill>
              </a:rPr>
              <a:t>Univatiate Analysis</a:t>
            </a:r>
            <a:br>
              <a:rPr lang="en-US" smtClean="0">
                <a:solidFill>
                  <a:srgbClr val="FFFFFF"/>
                </a:solidFill>
              </a:rPr>
            </a:br>
            <a:r>
              <a:rPr lang="en-US" sz="2200" smtClean="0">
                <a:solidFill>
                  <a:srgbClr val="FFFFFF"/>
                </a:solidFill>
              </a:rPr>
              <a:t>Histogram + Boxplots</a:t>
            </a:r>
            <a:endParaRPr lang="en-US" sz="2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"/>
    </mc:Choice>
    <mc:Fallback>
      <p:transition spd="slow" advTm="4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Pairwise </a:t>
            </a:r>
            <a:r>
              <a:rPr dirty="0" smtClean="0"/>
              <a:t>Scatterplots</a:t>
            </a:r>
            <a:r>
              <a:rPr lang="en-US" dirty="0"/>
              <a:t/>
            </a:r>
            <a:br>
              <a:rPr lang="en-US" dirty="0"/>
            </a:br>
            <a:r>
              <a:rPr lang="en-US" sz="2200" dirty="0"/>
              <a:t>s</a:t>
            </a:r>
            <a:r>
              <a:rPr lang="en-US" sz="2200" dirty="0" smtClean="0"/>
              <a:t>catter plots</a:t>
            </a:r>
            <a:endParaRPr sz="2200" dirty="0"/>
          </a:p>
        </p:txBody>
      </p:sp>
      <p:pic>
        <p:nvPicPr>
          <p:cNvPr id="3" name="Picture 2" descr="parwise scatter plo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" y="1955541"/>
            <a:ext cx="5484577" cy="3134044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5805577" y="1112838"/>
            <a:ext cx="3028230" cy="4356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lang="en-US" sz="2000" dirty="0"/>
              <a:t>Variables X1 and X3 show positive linear relationships with Y. Variables X2,X4 and X5 show weak or non linear relationships with Y.</a:t>
            </a:r>
            <a:endParaRPr lang="en-US" sz="2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132"/>
    </mc:Choice>
    <mc:Fallback>
      <p:transition spd="slow" advTm="42132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Pairwise </a:t>
            </a:r>
            <a:r>
              <a:rPr dirty="0" smtClean="0"/>
              <a:t>Relationships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200" dirty="0" smtClean="0"/>
              <a:t>Correlations</a:t>
            </a:r>
            <a:endParaRPr sz="2200" dirty="0"/>
          </a:p>
        </p:txBody>
      </p:sp>
      <p:pic>
        <p:nvPicPr>
          <p:cNvPr id="3" name="Picture 2" descr="parwise relationships with correl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889850"/>
            <a:ext cx="4306307" cy="3726610"/>
          </a:xfrm>
          <a:prstGeom prst="rect">
            <a:avLst/>
          </a:prstGeom>
        </p:spPr>
      </p:pic>
      <p:pic>
        <p:nvPicPr>
          <p:cNvPr id="6" name="Picture 5" descr="correlation matri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507" y="2920049"/>
            <a:ext cx="3923293" cy="3666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9185" y="1417638"/>
            <a:ext cx="3724795" cy="1324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871"/>
    </mc:Choice>
    <mc:Fallback>
      <p:transition spd="slow" advTm="2787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Multicollinearity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762" y="1417638"/>
            <a:ext cx="720995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• High correlations: X1-X3, X2-X4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• VIF values remain high</a:t>
            </a:r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dirty="0"/>
              <a:t>• Multicollinearity clearly present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575186"/>
              </p:ext>
            </p:extLst>
          </p:nvPr>
        </p:nvGraphicFramePr>
        <p:xfrm>
          <a:off x="937403" y="2777707"/>
          <a:ext cx="35483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166"/>
                <a:gridCol w="1774166"/>
              </a:tblGrid>
              <a:tr h="341606">
                <a:tc>
                  <a:txBody>
                    <a:bodyPr/>
                    <a:lstStyle/>
                    <a:p>
                      <a:r>
                        <a:rPr lang="en-US" dirty="0" smtClean="0"/>
                        <a:t>Variable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VIF</a:t>
                      </a:r>
                      <a:endParaRPr lang="en-US" dirty="0"/>
                    </a:p>
                  </a:txBody>
                  <a:tcPr/>
                </a:tc>
              </a:tr>
              <a:tr h="341606">
                <a:tc>
                  <a:txBody>
                    <a:bodyPr/>
                    <a:lstStyle/>
                    <a:p>
                      <a:r>
                        <a:rPr lang="en-US" dirty="0" smtClean="0"/>
                        <a:t>X1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7.980752</a:t>
                      </a:r>
                      <a:endParaRPr lang="en-US" dirty="0"/>
                    </a:p>
                  </a:txBody>
                  <a:tcPr/>
                </a:tc>
              </a:tr>
              <a:tr h="341606">
                <a:tc>
                  <a:txBody>
                    <a:bodyPr/>
                    <a:lstStyle/>
                    <a:p>
                      <a:r>
                        <a:rPr lang="en-US" dirty="0" smtClean="0"/>
                        <a:t>X2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5.849774</a:t>
                      </a:r>
                      <a:endParaRPr lang="en-US" dirty="0"/>
                    </a:p>
                  </a:txBody>
                  <a:tcPr/>
                </a:tc>
              </a:tr>
              <a:tr h="341606">
                <a:tc>
                  <a:txBody>
                    <a:bodyPr/>
                    <a:lstStyle/>
                    <a:p>
                      <a:r>
                        <a:rPr lang="en-US" dirty="0" smtClean="0"/>
                        <a:t>X3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5.635613</a:t>
                      </a:r>
                      <a:endParaRPr lang="en-US" dirty="0"/>
                    </a:p>
                  </a:txBody>
                  <a:tcPr/>
                </a:tc>
              </a:tr>
              <a:tr h="341606">
                <a:tc>
                  <a:txBody>
                    <a:bodyPr/>
                    <a:lstStyle/>
                    <a:p>
                      <a:r>
                        <a:rPr lang="en-US" dirty="0" smtClean="0"/>
                        <a:t>X4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6.552831</a:t>
                      </a:r>
                      <a:endParaRPr lang="en-US" dirty="0"/>
                    </a:p>
                  </a:txBody>
                  <a:tcPr/>
                </a:tc>
              </a:tr>
              <a:tr h="341606">
                <a:tc>
                  <a:txBody>
                    <a:bodyPr/>
                    <a:lstStyle/>
                    <a:p>
                      <a:r>
                        <a:rPr lang="en-US" dirty="0" smtClean="0"/>
                        <a:t>X5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1.122137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604"/>
    </mc:Choice>
    <mc:Fallback>
      <p:transition spd="slow" advTm="28604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638"/>
            <a:ext cx="821407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 smtClean="0"/>
              <a:t>Y </a:t>
            </a:r>
            <a:r>
              <a:rPr dirty="0"/>
              <a:t>is strongly right skewed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 smtClean="0"/>
              <a:t>Several </a:t>
            </a:r>
            <a:r>
              <a:rPr dirty="0"/>
              <a:t>predictors are </a:t>
            </a:r>
            <a:r>
              <a:rPr dirty="0" smtClean="0"/>
              <a:t>correlated</a:t>
            </a:r>
            <a:endParaRPr lang="en-US" dirty="0" smtClean="0"/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Variables X1 and X3 show positive linear relationships with </a:t>
            </a:r>
            <a:r>
              <a:rPr lang="en-US" sz="2200" dirty="0" smtClean="0"/>
              <a:t>Y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Variables X2,X4 and X5 show weak or non linear relationships with Y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dirty="0" smtClean="0"/>
              <a:t>No </a:t>
            </a:r>
            <a:r>
              <a:rPr dirty="0"/>
              <a:t>missing values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 Appropriate Transformations are applied next to reduce multicollinearity and improve model stability.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866"/>
    </mc:Choice>
    <mc:Fallback>
      <p:transition spd="slow" advTm="39866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/>
              <a:t>Polynomial Transformations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57253"/>
            <a:ext cx="8214072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Polynomial </a:t>
            </a:r>
            <a:r>
              <a:rPr lang="en-US" sz="2200" dirty="0" smtClean="0"/>
              <a:t>functions </a:t>
            </a:r>
            <a:r>
              <a:rPr lang="en-US" sz="2200" dirty="0"/>
              <a:t>x</a:t>
            </a:r>
            <a:r>
              <a:rPr lang="en-US" sz="2200" baseline="30000" dirty="0"/>
              <a:t>n</a:t>
            </a:r>
            <a:r>
              <a:rPr lang="en-US" sz="2200" dirty="0"/>
              <a:t> </a:t>
            </a:r>
            <a:r>
              <a:rPr lang="en-US" sz="2200" dirty="0" smtClean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 smtClean="0"/>
              <a:t>0&lt;n&lt;1</a:t>
            </a:r>
            <a:r>
              <a:rPr lang="en-US" sz="2200" dirty="0"/>
              <a:t> </a:t>
            </a:r>
            <a:r>
              <a:rPr lang="en-US" sz="2200" dirty="0" smtClean="0"/>
              <a:t> on positive skew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/>
              <a:t>n</a:t>
            </a:r>
            <a:r>
              <a:rPr lang="en-US" sz="2200" dirty="0" smtClean="0"/>
              <a:t> &gt; 1 on negative skew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sz="2200" dirty="0" smtClean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 smtClean="0"/>
              <a:t>Define </a:t>
            </a:r>
            <a:r>
              <a:rPr lang="en-US" sz="2200" dirty="0"/>
              <a:t>a Shapiro–</a:t>
            </a:r>
            <a:r>
              <a:rPr lang="en-US" sz="2200" dirty="0" err="1"/>
              <a:t>Wilk</a:t>
            </a:r>
            <a:r>
              <a:rPr lang="en-US" sz="2200" dirty="0"/>
              <a:t> </a:t>
            </a:r>
            <a:r>
              <a:rPr lang="en-US" sz="2200" dirty="0" smtClean="0"/>
              <a:t> normality </a:t>
            </a:r>
            <a:r>
              <a:rPr lang="en-US" sz="2200" dirty="0"/>
              <a:t>score for a given </a:t>
            </a:r>
            <a:r>
              <a:rPr lang="en-US" sz="2200" dirty="0" smtClean="0"/>
              <a:t>n power </a:t>
            </a:r>
          </a:p>
          <a:p>
            <a:pPr lvl="1">
              <a:defRPr sz="2200">
                <a:solidFill>
                  <a:srgbClr val="DCDCDC"/>
                </a:solidFill>
              </a:defRPr>
            </a:pPr>
            <a:endParaRPr lang="en-US" sz="2200" dirty="0" smtClean="0"/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sz="2200" dirty="0" smtClean="0"/>
          </a:p>
          <a:p>
            <a:pPr marL="800100" lvl="1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sz="2200" dirty="0" smtClean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r>
              <a:rPr lang="en-US" sz="2200" dirty="0" smtClean="0"/>
              <a:t>Grid </a:t>
            </a:r>
            <a:r>
              <a:rPr lang="en-US" sz="2200" dirty="0"/>
              <a:t>search over  n∈[0,2]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/>
          </a:p>
          <a:p>
            <a:pPr>
              <a:defRPr sz="2200">
                <a:solidFill>
                  <a:srgbClr val="DCDCDC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DCDCDC"/>
                </a:solidFill>
              </a:defRPr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76" y="3203322"/>
            <a:ext cx="5945449" cy="19466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76" y="5794373"/>
            <a:ext cx="5982535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23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820"/>
    </mc:Choice>
    <mc:Fallback>
      <p:transition spd="slow" advTm="6682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 smtClean="0"/>
              <a:t>Apply Transformations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57253"/>
            <a:ext cx="82140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CDCDC"/>
                </a:solidFill>
              </a:defRPr>
            </a:pP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endParaRPr lang="en-US" sz="2200" dirty="0" smtClean="0"/>
          </a:p>
          <a:p>
            <a:pPr>
              <a:defRPr sz="2200">
                <a:solidFill>
                  <a:srgbClr val="DCDCDC"/>
                </a:solidFill>
              </a:defRPr>
            </a:pPr>
            <a:endParaRPr lang="en-US" sz="2200" dirty="0" smtClean="0"/>
          </a:p>
          <a:p>
            <a:pPr>
              <a:defRPr sz="2200">
                <a:solidFill>
                  <a:srgbClr val="DCDCDC"/>
                </a:solidFill>
              </a:defRPr>
            </a:pPr>
            <a:endParaRPr lang="en-US" sz="2200" dirty="0"/>
          </a:p>
          <a:p>
            <a:pPr>
              <a:defRPr sz="2200">
                <a:solidFill>
                  <a:srgbClr val="DCDCDC"/>
                </a:solidFill>
              </a:defRPr>
            </a:pPr>
            <a:r>
              <a:rPr lang="en-US" sz="2200" dirty="0" smtClean="0"/>
              <a:t>Predictor </a:t>
            </a:r>
            <a:r>
              <a:rPr lang="en-US" sz="2200" dirty="0"/>
              <a:t>variables are transformed to be near normal distribution without changing their </a:t>
            </a:r>
            <a:r>
              <a:rPr lang="en-US" sz="2200" dirty="0" smtClean="0"/>
              <a:t>characteristics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6" y="1802594"/>
            <a:ext cx="7049484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58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212"/>
    </mc:Choice>
    <mc:Fallback>
      <p:transition spd="slow" advTm="26212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 smtClean="0"/>
              <a:t>Models Evaluated</a:t>
            </a:r>
            <a:endParaRPr dirty="0"/>
          </a:p>
        </p:txBody>
      </p:sp>
      <p:sp>
        <p:nvSpPr>
          <p:cNvPr id="4" name="AutoShape 2" descr="data:image/png;base64,iVBORw0KGgoAAAANSUhEUgAAAmMAAACHCAYAAABagl7AAAAAAXNSR0IArs4c6QAAAARnQU1BAACxjwv8YQUAAAAJcEhZcwAADsMAAA7DAcdvqGQAADCeSURBVHhe7Z0/ehNN9rbl75dMZiabzLwrAFYAswIzKwCyyYAVACsAVgCsAFgBkE1myCYzZJMB2WR8uhs9nuPjqu7qluS29D73dRXqrjp1zqlTfyW18MGvJQtjjDHGGDML/2/1aowxxhhjZsCHMWOMMcaYGfFhzJhGnj59uvj48ePq7uqAT/j248ePVY4xxphd4v+Wi/jT1fXG+Pz58+I///nP4m9/+9sq5zdsGmwYpXy4du1a91qCev/85z87mevXr69y+2nRuwlo73//+99BO7ThX//6VzEGJVrafFltrDGlXyL4//Xr167+X/7yl1Xu/yC2//73v7vrudoIr1+/Xjx+/Hhx//79rs3rjG9k+sbBlJj84x//6GTv3LnT3RtjjNkheIB/09y7d48fBazufnNyctLlHR4ernJ+8+HDhy7/+fPnq5wyqo/uVpB/8uTJ6u4ir1696tK63L59u9eOwFYpBjVym0v+DrVx02QfpvRLhLp9bTg6Orr0Npa4ceNG5wusO76HxgFlpDExOT4+bh5XxhhjrhZb+ZpS7871iQDo+ufPn8X8u3fvdq81bt68uVhueN0nFJsCXZvUN8S7d+8Wyw2zi0GL3dzmy/a3RPZhU/1Sqs/Y+Pbt2+puPvgE68uXL92nYrDu+G4dB2Nign708amZIM+flBljzNWn9zDGVyVT0MbDpiPYRG7cuHF2LbhevtM/+4rrxYsXZ5uIvhISjx49OrdBIYsciXzKSRHqk4cMerVZcc81SdeizwfIdlsglu/fv++e7aG9MTYCfZRjm0MOqM3yseRvrY2QdSKHPO0i5lkX1Nov2eyDfBS5/tA4YlxwwMgxQSeHlhJ9fYQ98igj4V+EPOrXYpbReEUWkIcp47tlHMDYmMi3bLuvXcYYY64Iq0/IzsFXK3zlQTGv3I+Fr3VIAj0PHz7svtIjCWyQD7xyz1cufBVEHb6S+f79e1dOmb6a0VdFUZaUdZPIkzwygB50k7g+PT3t8od8qNmtfaUk+JqKetiRDdkU5JGIm2LCPbpr/qpOqY2gcsrwmWvpwQavUb6v/X0+cA+qjz9cKz6KX0Z1kcGmQJ4ytUn6oc9HktqEnOpzLbgn1WKWwTYykSnjG1rHwdiYQM5TPIwxxlxtiocxNgEWdqW+jaqGNho2Az038/bt23MbW8zXRhM3E/LJ0zNKKmfz4jpucpLNG2G810aow2XeOId86LMb65SIm7eeL8rPyZEX/YGoO/sLuU5uI9ds3gJZ8rRJ6/kl5Fv6oOYDdVQ/2qOtyPNaQnV1wNDBRH4pVvJpyEfKiUG0h/14cEI2tiHHLIMtyiNjx7doHQdjYiLQm/vGGGPM1efC15R83cOzJ5F834K+yuGrEn11oq+VgK9flE+evk7haxy+wiHFvIjyZQPidUT2QF/91RjyQX602I2gIz5zhB9HR0fFrzijv60MtTH+yhHZ5YZ99iu8WDbU/iEkq3YC/tDPQ7HXV4n6Wo6vEZeHiwv1hnykXdgnjzKNLeIfGTMuSm1Xv7eOb5AfLeMAWmMi1KfGGGN2iwuHMRb0w/RMSr5vQRuQNisOAEA++mI+NrXhsWGpTOXxwAB6PihvPlP8jAz5oPKxm542W/5rhIODgy7xPBAbM7auCmP6oETp0NIKBwwOGhw48qEl0tJHvD548KDL53rosDVEqe1jxzeMHQetMRHIyC/gvqTXGGPM1aL4AD/vxHWw4VXvzMdyfHzcbQafPn06t0lwnfO1YfJphjYyEhtR3oAkS7lA35RP8CJDPqg8bnAtBxDix6b64cOHs/T27duurPapyByM6YMSqh9jwsGZNrbEiU+COJxgH0o2h3wk1oyDk5OTLh/bYw/PGY3RfLAZM75hyjhoiQkQX9od24rtW7dure6MMcZcVYqHMRZxNtFfv351r3FDGQP12JAgfp1XymeTZaPShspmxkbEZpI3KsnyCQMybFRTfGTjon1s2rwO+UA5XyuRp/KhrymRYzNFJz4qUQ9btU24RPZ307T0QZ8Pqq/4cEDgmk+pWg5jxITDP782vHfvXvEQNeSj6sg/DmnoWwd9Moa9SGkcQyl/6jhoiQnQXkCnIC4PHz5c3RljjLmy/H50bDvoQePlZrLK+Y0ehM/5PAzNL+EoU4oPy3Ovh5aR5QFndJCQu3374i/Z4kPOH1YPVPMKPFhNXfL0kPWQD7Qpli830i7lh6mFHsJGb0YPZMs211lPzCv5m+vkNuZyrmOMsvxQ+4d8oG9z/Wg/k8sVL/kDWabPR8roD+Xjq+4F11FfjkEJftWIzciY8b3OOGiJCX1KO40xxuweWz2MARsIm1amlg9sZpTnjYs8/bKMslzO5hcPDlEekK/pzXk1HwS+y39eo51IlMvIH9XN/kItT37lcumslXMd/cnyArlSvuizAaqf8zNZRv5Eanpko+QjbVSZ5ETWJ5slPYLyeGAS5Jf6N+dzXZID2ZdP8RpUHoky6MU3DnXGGGN2jwP+WS7kOwdfHfGVjZ6l4WsevspZbpbnvjIyZlPo6/D4VeBVgK8oSZoLxhhjdoudPYzxDA7PxPAcDhweHnabEXnGGGOMMbvCzh7GIjwcXvrvB4wxxhhjrjp7cRgzxhhjjNlVev9QuDHGGGOM2S4+jBljjDHGzIgPY8YYY4wxM+LDmDHGGGPMjPgwZowxxhgzIz6MGWOMMcbMiA9jxhhjjDEz4sOYMcYYY8yM+DBmjDHGGDMjPowZY4wxxsyID2PGGGOMMTPiw5gxxhhjzIzs/B8K//jx4+rqN9euXVvcvHlzdfcbyZBPeebz58+LHz9+LK5fv94lQR5l1L9z586F+tm2yHqGkI27d+821xtTR37ShsjXr1+7lP1Vu0m0OddrRXpKfbJvDLWVPshx3iQHBwfd62VN502N/W0yZo6IoTr0M+XMG60JmSjTN3+m+GeM2VM4jO0yNCGnw8PDXycnJyuJ/8k8efJklXOeo6OjC+XUV74Set++fbuSKNsm1eyUuHHjxrm6t2/f/vX9+/dVaZkxdfBXcpFXr1517SE/t1v5Svfu3Rv0qQQ2qI++fWeorZSNGRdjUV+1gK+kdZC9nLbZxjFsY17V5kakJHN8fHzB9hT/jDH7y14cxljIgMWMwwcLXdwUteBxuMp8+PDhrDxuJNJBOfDKfdQRbZdgEe4rf/jwYafj+fPnne/Yz35kxtShPG4Mgrrc41+uS7tpow6zkp2yeaNf9tfd/K86Q23Ncd406Ce1wJjsG5ctYGtdHdtiW/OK9tLHmhuqozUCNA765s8U/4wx+83shzEOTyxC8ROnMbCI5U2BhS8uklzrnWi2wztbbaJxMeSeRTOCPmROT0+7e2T6NiT0kmpQn8U7wkGoT+eYOmobr9QTtIGNAMiP7eY6bi6QZVogRtTDDv5Fn9GV/WVTIi9uWtSlHvn50zny0EM5fQvYRI4yUu4/QKfKsYVMluuzW6KvrYJy7ES9eSxiJ/qPvkj0C10ah4B+ElAe48jBgDy9alwqT4xpN7aQq0FZ7p9SHvS1q1SH8ZnHaATfkI9sYl5xHeNKfKiHf0JxjWSZKf4ZY/abWQ9jLEgsQixUtU1sCBa2vIiVDmPYYKGMNrSYsvFIRuAP8nHxzZRsR9Bf29BkO2+48rPEmDq0XbKUc12C/NjujOqOPSxjl3psrGywugb1T9QpefWZ6tBf9A/to08UT8pIbNDIkq8+4159yrVQXtRJin04ZLdEX1sFeST5K1/jYSj6j0/Ia/xJL/nyC105HrqOfaqxwCv52CFxLT/HthvZvrFPOUntreW1tivWQYa8EtSjrGWOiCl1oDSO1Qb1KzqizFRbxpj9ZrbDGItTXOx55X7sps/CxkLNRkNikWNRiwsbMix2LJRc50MBC6dkhD5FIB9dbFL5YKYy5GKKG2yNuEFGtHiXGFOHWBIX6NNJfmy3UNtJ2gTHgG3ZV3y1AdHXxI3+EMjiM2jDin4xLshTH3CNj4I66I+xp1w+0Oe5LdIpPS12S/S1VZCXx7vGFci/aFvtkV8xXhoLkueapOuoJ48b2ptjl+sMtZuyvrFPebQBOa+1XVkPZdHXSG6rQJ78ElPq0F+0X/0uaBP9TD2lOOam2DLG7D+z/dcW/JLo/v37Z79O5JV78sfy5cuXxd///vcuPX78uNPFr5Qyjx496l7fvXvXvb548WKxXEyLv4giDx3LRbP7tRPXDx486HyMYItfS8WkNs3F06dPF9++fVu8fv16lTMe2rncRBbLjWXx8uXLUbroQ/pEsSKW6JEO4kNM37x50/3yjF+dIa/+0Rggn7aQYp6Iv1KL4wd5yuQHqD52RbyGVrsR2ai1NYKMxobGjfTzazrG4rNnzzo5xiav6JOMbAB1kVfZOsQ2trYb1IaY1D7gPhPzWtuV9cjHuWDMauzkfmYMM/eWB8zF8oDVtYX5ozXHGGNKzHYYY5NhIWNhA165J38sLHgcmkjLd6tdXkkPeciy0bHYx020BhuB/GSB5QARNwo2UW0OSvqZOnJRNiL/8qERO2pDpqUOmycb+vHxcZePrDZUrslrQQcC/FfMWtEGxcGY/3KBxAZFvBWPeDCWvDY4+YssPivdvn27+l8AUIcyDszIch3HgNodDwsQYz3Fbktba6ATWYEtNnDqoY9y4iO/MrSltT/7mNJuoKw29lvYRru2Na8EeawJ+I58HGPksT7Qh4wL4oEMh3OuYYp/xpg/AatPyGaBr2j4SJ+P6HnVVzZjoAnxawx93B+/XuGefCCfe2zxytcKEGX4qgWd+StT1dVXDFxH25nl4trJ1KA81tdXHEM6++rgGzZrSb4L8obaTR42WkF2eYDrbCnpa6/4lY36HNnY9/qqL/uhr8Ag+g18pUdelFEfg3TGrw+Vp9i12M20tjXaEdSLedGOvgajDfIrjmn6nXLZoJyk6/jVn/zBN8Bmtkv5mHYjn9sToTz2D+S81nZlPUNsY14J7rPPgviWyqiDfjHFP2PMfjP7QwpsACy2eSNohcUvL2IsbCx4LHIQF3Qt9uTFDSvKADIk/NIGqzxBnbwRk/RMGvrihpyhXH5QT4eHuJhTFtvXUiejOiXIz+0mfmp3tCewFetEqId8fmYKiFWMnw5QpNz/kiWfTZs4Iqd2ch19IF926eOoW6CTe3RRF/3cx/gO2Y2MaStyko161QZizT35lEu34p79Ur9zD1yTQLL4jF61m2ugLnnca45k/X3tBsqkIyaNfcrzGCnlZbulduU6eU5kkKde3xzJOlrrRBkl/Ba0Jc4fjUPqiBZbxpg/F7MfxtaFRSwvzCxq5GsRj9egRZWFUGQZFlgWVvKVuI8LbyyLKerpg41QCzEJ/WyCEfJIoqVORot/CfJzu9lMpJ9EvLRpA/FmEy2h2EZ5oX7RRosM97F9grLsR2wn99Fv5PFJsujUvUAG/xRT9NGWOH6G7EbGtJVrHTykl/oR7KhM8hpvHHKiX+iJm7fyIY9dHQg03vFJ5bEvWtsNUS4m9Um8FqW8lnblOsiQatCWbcwrleUUx09p3UBvHCMttowxfy724s8h8YxJfHYDYj7XPMui51l4PoPnY+KDwVlG8BwIqVSWn/sQJdk+Sv4IyiA/69RXJ6M2lGSH2l2qw3NRyw3y7DmYCD5B7g+Qz9FenzzID8pjDGp+ow87yPMa21CKJdd6Pi5SsxsZ01b5iy7ya3pll7KSXpW39LvsAPazzVKe9Nf8E9QtkdtLEqU8UWtXqU6pH0uoD0qxqunoq1NrMzpyX7XEsc+WMebPxc4fxszlwgbzxx9/dD+W2LVNhA2djVGHSB6yfv/+/eLt27cXfllpjDHGXBY+jJlRcBjTL8V2DX6ZqP96AA4PD7t26JedxhhjzBz4MGb+lHCoLH1dZowxxlw2PowZY4wxxszIbP/pqzHGGGOM8WHMGGOMMWZWfBgzxhhjjJkRH8aMMcYYY2bEhzFjjDHGmBnxYcwYY4wxZkZ8GDPGGGOMmREfxowxxhhjZsSHMWOMMcaYGfFhzBhjjDFmRnwYM8YYY4yZER/GjDHGGGNmZOf/UPjHjx9XV7+5du3a4ubNm6s7s0kODg661ylD5sePH4tHjx4t7t+/v7hz584qd/t8/vy5GyN3795dXL9+fZVbBz+R//r1a+dnbSzV9FKPVAI5yUou5rWAf7It/xjz5mrgOfKbKEN5rT3IYB+Z0lhu1WPMzsNhbJehCTkdHh7+Ojk5WUmYTaH4tvDq1asuCfqDuvfu3VvlbJ8bN26c+Uy6ffv2r+/fv69KL4KPjJ1Yp+Rvn94nT56cK4uJMiAusqO8FvDv6OjonE70vH37diVh5kb90sK+zpGSzPHx8Tm9XFMvyuBLlGnRY8y+sBeHMRYQYJKyMTGBSWazaEFsgT5RvwgW18vi4cOHna/Pnz/vxoUOSX2HH/xl3MhP6fjw4UN3D1P0SgY91OOaTWWoXobNCv/kD6/cc0AzVwP6lNTCvs4RxnaU0ZiPB0/Zkm3KuI8HuxY9xuwLsx/GODwxMae+u2dy5gVNEzsuEExkJjeyTHgWAHF6etrlaXFkgYmQh4/UZ0ME6sc66I9Ee+jDhpA8+VwjN7QIZ/+jPhiyl/0v5UG2E+NETEnQFzPuWURJXKttXMeFdJ0Y0bexfzP4SZ0IhxZ01cj+0Xb0ECcxVi86FAdAF+2CrHsI5GOcgRigQ7HDTu7D0tzq6+e+vgXy8tjJedTRHFF8Yv+12Ojr/xK5TXE8QSxHbx5vQ20SfbGjj0jQ10bu93WOxPEusgx2sm300h7RoseYfWHWwxiTkUnJ5CpNzhaYnHnCsvmQr4WIxYp79LM4Msmxx0JC4po85ChHNi6c3JO0yUCsg33KtUjJHvmyR10t2tKncq6RqRH1cY0sSfpa7UX/S3nSU4oTqM5QzNSfJK61gSCjhVS2psaIa/JKoIOyuLADtqOOIehP9OgwM0UvZdQpbYrkKx4tKOZxM8ygk6R+VZ24Sff181DfQrYR85BHL9foIUU/YIwNz5HdmiMgXzXm0BllaKtsI6s+y4ftIT3G7BOzHcaYUHER0+I1dqIxOZnMgonLgkU+aNHRAgfYII+FhHIWhbgQoA8dItvQYhJ1SofssZAINuIon/VRl7zShl3Shx3qT7UHOW8oTsA1qSVm3Jdson8TMUIu+hqRrhxP5MlvgT5mI4htGquXdqIjx0FQp9aGEup36qGXA0E+mFGW55VkdZ/trjsfgLzYn/JTfmjTJnZTbHiO7MYcAXxnDKJHSYdQkG3qIkcbuCbFeA3pMWafmO2/tuAXNPxqSL+e4ZV78sfy6dOn7ldMpFu3bi2+fPmyWC6OXZn08Wucp0+fdinmRbuU8WsdrtERib/i4RdHywVo8ezZs67uixcvuld+7SPd3AvqIq8yiPqoV6OkD3l+YTTVnoh5kq3FKdIasxrSu06M5OM24Bdc/LIMXr9+3b1OgXHx8+fP7nUTqN+Xm1nnH9cPHjw4F0fgPs4r9Q/odZPzQcRf4lG+3GTP/IhlU2x4jgz7fFXmCL8I/fbt22J5kFwsD3edzy9fvly8e/duJfEbxgRt0a8lIfrbqseYfWC2wxgLB5OYSQ28ct+36NZYvnvqJitp+U51sXxHdbaIaZJr0iuxUbAYUM4rmxr5XLf4gCz20Pv48eOuHotEXpQFi7PaOoaaPrEpe0NxikyNmdh0jDLyBd8i6F6++17dlUGGDQ4fqR/bNUYveRzC2EjGxKYF/NPcQf+bN2/ObdAZ+odNDYb6ed2+bWHTNmrjSdTKPUc2P0fIYzyyNjJGOVwhwxqtgxZtAA5zuuZVbzCgRY8x+8RshzEmHpOYxOTStd5tjYGFDh2kOMFBC4Ums5I+zeIAxacXJycnXT4TP9avwWKBThbm09PTLi8eJuNiyuKFnMrGUNOHLfI2ZU+ytThFpsZMbMrnGvjChoJvAv34PaSf8cOnF7Q7y47RS31iRDw3AbFhA8RWRJ+M4IeI/gH3HBhAfm56Poxh0zbUJs+RdrY1R+RvPJxii3uVldoGtE31WvQYs0/M+j/wM/GZ0MAr95uGic/H29pomPB8/M3XmXGBZFFiMcKP9+/fd3k1kKU+etBHYuFFl+xRJnvYplwb5xiyPhYirnnHzfWm7A3FKdISM2Qok0xkEz4j3yeLbr6+Rg4feOXTIV5F1sE9dfi0iUWfeiT8Ey166RdiIj2tEOfa4Y2YKU7EDNu84g+bamwH/mFffcjGqfKhfp4yH8ayaRt5PHmO/Ab5Pll0b3qOIMt4ZBzjN2W0nTrxjfbDhw+7T750sEUv41QyrXqM2RtWz47tLDRh+a5/dVem70FQypaL3ln+cgE4uxdcP0kPwlJfdUjUWb4L7sp4sDXaQ2d80Jq8qK/2MK3I+nL9sfaglDf0wKzyWmLGg83kk8c1cC2b68YIeVINfNSv+qQ/P/ybdUg2pzi+WvQuN6qujDb2gUxsI3aIYw3GF/ZkW/Y17oA8dEQ5/In09XNL33I9NJ64jnGL/TfFRu7/jOfI1ZkjpXGKHeyJbJuUbbfoMWZf2Is/h8Q7TN5JDsG7ZL1T1jtXwTs73p1SxityekeIDd4F5k85pK9mX+X53WnWhz3sl/yKSF/JF2i1B7U2gfQM+dMXM4Ed6SnZbPU5x4h76PMPVC/rh6wDmyUox26kTy/5kOtkchv5Acpyc61+OiYUs1hXSAefesR4lZCekgx1aSNlvMY+KvVjzkNe9UHxirbG2CjVL6E2xboRlQ+NNyjlCekZ8qevjQI70lOy2epzjhH30OcfqF7WD1kHNktQjt1IS4xqbYu06DFm19n5w5gx+wCbzR9//NH9UrJvYxqi9UBnjDHm6jDrM2PGmP/BIWqdg5gxxpjdxJ+MGWOMMcbMiD8ZM8YYY4yZER/GjDHGGGNmxIcxY4wxxpgZ8WHMGGOMMWZGfBgzxhhjjJkRH8aMMcYYY2bEhzFjjDHGmBnxYcwYY4wxZkZ8GDPGGGOMmREfxowxxhhjZsSHMWOMMcaYGfFhzBhjjDFmRnwYM8aYPeTp06eLjx8/ru6MMVeZnT6Mff78uUsZFqBa/tevX1d3ZX78+LG4f//+qEWsRe9UpviTIRbybxP6jOO4Lq9fv17cuXOnS1eVsX3csg4cHBx0aSrob7FDfJ89e9Zdq04tDekyw6hfx4yZP8MawjgkLpsaYy0x29kx/WuHuXfv3q/chJOTky7v8PBwlfObDx8+dPnPnz9f5ZRRfXS3gvyTJ09Wdxd59epVl6YwxZ/M7du3z/zbhL7IOm1rYdv6p7LpOG6KqxqvyNu3b7vY3bhx48rFLzK2j5HtWwcAGdIU6FfWtRY7xPbo6Ki7RlZ2S2lI1y4x1/hXLMeMmau6hmyS79+/d2N2U23MMSv1N+W7OKZ3+jBGJxB4DlqCwxZ5OV8L0unp6SqnDh0+hqHO5zBEmspYfzLxMAbr6ous27Yhtq1/HTYZx01xleMlNBdZqK86Y/p4aB0AZEhj0bp2fHw8aIe41mT0pjSujfvEXOOfmJJgzJi5imvIpuHgpNhsghizUn/Xxv5VZ/avKd+9e9c928DrWO7evdu9xrp8RLl8V3h2LbhevlNcXL9+vbt/8eJFV5+vSfjYk48/xaNHj7qPVwWy+kqFfMpJEeqThwx69TUp9/o6Vdegj1ulFxs1oj+SLdkS2d9M1Ac5FvEjXq6jn7Hd3JfaBllnjG+mFouafq4ZM+i/efNmlwfRJn7GdkjvmLghG9uboSz2S/SJMrWLMUd5tMd9jlFpDgy1KdqUjRyvvj4E8lpiE32NfkAur/U35YoZ8tGXMW3NUIZMBB+ivZY4ZBvItNYHbMY4DK1rrXEjf3kga1onte6hcwx9vpC37fE9ZBP6+oD70vjnWn0IpfLS2Grtm4zGTMuYjOOLfGySxzW25aOgnDLpQDbGIIPcUNuo3zefc3nWSXnfWEAOamNXbRLYkg0RZbBH22Un9yfgD3LkYz/HMdIyry+F1aFsFniXx0fpnGJ55X4sfBxPEnwk+vDhwwsnZppKPvDKPfY4tVMH+3qnTplO1jrVR1lS1k0iT/LIgNqmduqTOe6jr9SpfbxOmfzpswU1f1Ufoj7FAn1cS55YkKKf0s011NomnbX4ZmqxqOmnnES/yxfZVFzQR3ns01jONTJCeX39nEFecZR+6qKDa/mOb2qjkLzaoPL4rq+1TdJRitdQH4L01GIT/eCaMpL8UHlLf+MXepDnWmM+2mhpa0afkvMVqNCnSXwKNCYO0Qb3+DmlvuRjn0oGkOG6dZ4I6uBTDcpkI1P7ZGzIF8pIlG16fA/ZlI6hPqDdlJO4jutFjFeOQbYDQ75lpEPX2BsakyBZXZNq81B50ScS8jWks9S22lwbKpdOylrGAvWQiX0QUZwUE92jR2CfBNJFkl2u8/5Qi2NkaExdJrMdxhigBEEdrKDEgduCBg71NcnQQedwDTG/NDDIJ08bg8rpXK5jx0g2ToB8nyccZbFceqMP1Kl9ZB1l+2z1+Rtt6V6xYAAKfEA/r5RnvyjTpIDctpb4RoZikfUD8iWbsR3q83Xjlm1Hsv5on3rk4RvkBYfrPP5ZEFjcdJ91DrUJuI956Bnqw6wnxqbkRx4j0Sfo629AlnIxta0RdBC/qIM2EmOYEgeQD631+/oUkCFRJt1iKG4i18vk+EYUV41DaPGF622M7yGbsT+oM9QH3Mc6kO3kGJTs5DpDfUMZSdfUVZtrYxKiHa6jH3EerrNGldpWm2tD5ZDL0U8edSGPBchxiMim2sYYQZ482q3yaF/X2M7tpzzmxThm0D00pi6L2b6m5GNDPhq8du1ad88r930fJ5bQR6B8NK+P5/XxKvDRaPzYXvr5aJKPQUkxL6J82YB4HZE9iB8Hl+Cj3GVnd792os18BMvrUD1RsyX/W/wFtQ/bAn3Ei9fYJ8RJ8fvy5ctK+iIxlkPxhamxiDEotYNy9KoManGTTGvcatAWga3lpD4b37FM4G8c/4ovTGlTidY+jHpKsYl+xDGi8tb+LlGyMbattJM+e/PmTfcVBbZpo75ymBKHSGt9ZJAFXiWXUd46casxtn6rL9sY30M2Y3+go6UPphDttPo2BP72jckS0Y9NrVGlthFHQbnm2lC5GDsWaEstdtRbHsDO9mleibmu9fXmmDW5FsfMNsfUWGY7jBEgvvdlkAKv3PcFroSCTqeRGBRA/vJ0fS6fwGtAEHCVqTwPIvmmQSbQuy7YXJ7uOz8eP37c2W55HqQPtS37W2NoYaEcvx48eND5y/VQ/4yJr1g3FrV2EAf1YR/b7Ocx0O5v37511+u2SUzpw0jNDzGlvzObaqs2OcaOnsPRAr6JOEypj5z6NLKJuNUYW3+bvkRiLKbYXLcPW9lkPPrG5Bg2tUapbRnNtaHydci+R9ivOQAR558/f3b3HNCIG3lHR0db6+vLGFMtzHYYY0DSaBInUl1PGah0GhPn06dPZ4cz4DrnK9DY1CQj6ROZiGQpF+hjsKwLg0DvuE5PT7s8TdapyF90itrkAslHGSYcfpDHRKCtJycnXQzI75tQMCa+Yt1Y1NqBPpX1IZlt9HMf0R5wz4IP67ZJTOnDSM0PjRGVj+nvzKbaiiyLNm0msS5o81w3Dq31KYtwrz6NbCJuNbTWEb8WtuULOiLc5/E9xuY6fZjHVh+bjEffmByDfMIPMWWNkp7aXBsqnwp7cF997fvEXAcvxrFiP+Vc0MK668ImmfXXlASCAQ68cj8FOo3OhthppXw6mY9cmVTYY5Dx7uXWrVtdR0Qky6c1yDBQtNCNgc5lQNPZesUeOrGvSbXuIMBfBjJ61ba+Qaz2SZ4JyDXvEriWP/KbPnr//n2XJ3LbxsQXhmKR9ZfI7UAH9tHT0l+b6uexMDaJqWLEO0PZndqmHK+WPuxjaIyM7e8S6/ZfBB20j1iiQ6wbh9b6fX0a2UTcasQDaAvb8qVlfI+x2dIHefwDdrCBXvKZ331sOh7ULY3JMcinddco6UGH2oZPmmtD5VNAB/QdQinDLmNGdti7sMunqTXbpf4ew7rrwkZZPTu20yxPtd0Dejz0F9FDjzmfh/aWh5auTCk+GMm9HhBElgcP0UFCbvnu7twDglEe9MCjHhjkQUvqksc1oId7peVAPPcQYYRy6Y/XkG2hI7YNvaRYJ+ogRjkWKqPt1FU+bdC9KLVtKL6ZvliU9HMd2wO5HdSJD9vmOjluLf2ciTqzfq5j3WyPa9qptpHyA65j2wQ5Xi19mPVkX/vGCIztb+oiE5nS1hL4ovqRKXEA5bXWJ48yyeU+VT6MjZtAbigWx8e/f6meyX0rhnzJNrled3yPtdnSB6X1grUk+pEf6OY6x3Ns30hG19lv8vAhE2VzvRxT9KyzRomhuTZ2LnLdNxbwk3v09iE59RvgR45btF/q71gO2Z9Iy5i6LC7f4pYg0KXDTC0fGByU0yER8jRwKMvldFicmFEekK/pjXmyX/NPRP2tttApvbzGOlkHyJecD9SXDcllSj5INueXkGwtFlEP1yU/oc+/WAddUSev2c/cz5moM+vnOrYl29OCkfNLtLYpknX29WHWU/NJ9Wo2Vd7XFsj2I7WyPrsZ2lobR2PiADmvpX4tfjWkp1VedvpAhjEWNzYY8q3mS7bJdYxx1jtlfA/ZFH19IEr6or+xvGYHar71UdKH7WhfRNlcD5vRNq/ZjzFrVEZtq1Erzzq57hsLHKjyQbxErgeluGX7EOvl8pLeDDYkU2v3ttmbw9i2YCBxUmZRI/GOs7TImd3msvtZm5Ux24LxNcemAh7fm2cX9yI+UcPH0kHUnMeHsQEY6EwCBhSJdyJ8zG32i8vuZ2x4szL7isf35vFetN8c8M+yY00DPLA85ZcwZrdwPxtjrjJeo/YPH8aMMcYYY2Zk9j8UbowxxhjzZ8aHMWOMMcaYGfFhzBhjjDFmRnwYM8YYY4yZER/GjDGmAf4EDX82ZdfRnwSa8udjjDHbwYexFSxM/A2uMYstsvzE+LLgb3zxt7NabdIm/r6Y/j5ciVYZ2orMVd+MDg4OupSvt8Wc44a/k8ffbJv6N+Mug7HxaYnNuv06ZTwT62fPnq3uxjF23kJLnZoM97SrlCjjv0SgLdSdG9owJi7bQONp7FjN8opvH+uO3bG0+GSuCPzXFub3n0MgHC1/tkEg3/cfG/K/D8e/6bUO8e9nkfhbYEN/3oH/FDDWyW1bR6bP9pzIx3y9LeYaN/wHkOhhXIyxfdmMjc9QbAAZ0hSmjmfizH+4OZax8xZa6vTJEL9YFpNiy//eThzmBr+H+nvbKDZjx2qWj/GtIVvboLRutPhkrgY+jAWYXGMYGugsNKR10R9Q5X9bZsHF5pBtFlqS/t4WCwZ14mRtkdEmpNjoj+wOHRbmAt9I+XqbzDFuNAbyJn0VGROfodjAOv06ZTwT4xa/MlPmbUudKXoloz+PRHu5Hzt2N81VOozB2HhE+aE+gGhr05TWjRafzNVg+zvVFmExioOPP/CZJ3eW4Z53heTld8TkxUVZdZXPIkgSDHTlIYNeTU7uddjhep1FDzvojrChoLcEtqiD/5FYp0UGiGX++3ZjJzgxJtboJUWb3KOL9rFREkvJy5cYO/o46or9AfhGytcR9avYtXFDPrFBD9dRd/ST/PgHc8mLsc5QhkyEdpKn9g3Fv2RjTH3FJsY6/+293K99fZPBt7HjWZ9C5npDUAe/In3zFlrqjNVLPDSeBP2AHmLXSkvfo498rvExj988N3jti32rTvIpL/V/tomu6DtxIIFkxFDdKI8OyqIvmxy7EOWxpfnNfWndkE8k8sfGj7w8nymP44D6Zn0u7lQ7BJOAwZbf7bEwCQaQBhEDknIGFoOJgYusBh9lWhgoz7J5QaOcpEHMNTKAHnSTuNakyWAbv6MMebSJVxJ684BHXrYy1KWOFgkRY9EiUwK71MuLTB/EAF+1IES7XJOIH7HmWnFDXnWBWERdijnXQvrydUTjZFfHDfmKI9eKpfyUXnTShugnibwYM6E4xL5l3JGn8dga/2iDe/ycUl/ycQORDCDDda1vhsAv6veNZ8lE0E+8KNvUvG2pM0Wv/Nd4F+RR1gJ2W/uuNK5BeXlu9PkwpHOo/2s20SdkQ9fyp7Wu5KVnW2NX8qX5jQ/UJXGtMSl7U+On+nE+q13co5dyrUFmOhd3qh2CAcNA0CBhQDFIyGMwqpzBGa+F3vFqIKmculxLL0g2T8R4HzcuoCyWl8Bn6pDwHR3aFPEDXVGnwE/ya1CmiQrSGeu0yAhNOlKMyxCKZYw7bYzv3FgEhOxkn7TJxbqAPG0QyJLydURjYZfHTe5/+RljqbEj37PdDDqIQ9RBbFl8gfKW+Gcb8qG1ftwM5BN9JJAhUSbdIvdNDexKz9B4zrGGbczbljpj9Sp+pX4n7qX8Eq19F/XFcd03N2L/Zfp0DvX/mPlI0jX6xtSVfa63NXYl3ze/8Sv6BpRPjR/k+opLrJPHhZnGTv+a8tq1a4vlQD/3axZ+sq1rfiUId+/ePfulIL8sQYYU8yLKp56I15H4S7abN2+urtrBz+WEXywnRqfr8ePHiwcPHiyWi9xafwh2OZkWX758Wfz1r3/t9EjncrFYSbTJCH41hJ+UvXz5svt1WQvoRSe/3kIHv+DiNcYqtpMYLCd/17cQy8ijLv1D/yHLNW0Ywz6Mm4xsEx+BDWKvMoh2M8QFf9+8edP9Uoz2EdtHjx6dlbfEv2ajtT4yyAKvkssor6VvMthoHc8lXduat5uG+fbz58/iLycV4xam9H0c14phy9zI1HQO9b+up9icWndbY1dl6BfozvO7xNT4iVi/ZT0309j5/9qCgcKCwOLIosM9Gy0bKnkstgwUDS4GG/lKbPx58WQjgrxYLd/lrK42B7YY0NjC5+U7jMXyXcvZpNAgx9cI9fr8YYKga/kOprtGJzZiW1tkBOX4iV9MxtLiXgPfsUFdNi3068AzBvqQumx66OR66iKw6+MmExfPCL7IrxZ08CIOOqBoE1o3/lPrI/ft27fV3f8Y0zeZMeO5pGsb87alzhi98vHevXvFOONr3Gj72ETfQ54b6zDU/7QfpszHdepG8GMTY1fymbHzOzLWB4HMJtZzc56dP4xpo+BUrw2UBUYDS+VaOJBTGYnFioU5UlrwGHhs2ttG/gsmGwtA9IXJx+CvLYZMMsVA73iYMLRBultkdB0nGv6MXQCwhX70nZ6ednmtn6xF8IM+YOPDb3TkxbKVfRw3EBdt+gj7tXFSAlniQaxJHFC1MK8b/9b6MX7APRtEZkzfwNTxHOdDDXyRHKBz7LxtqTNGL3Eg3sQnwzihDH0ttPZdDfkWYxjH6hSks9b/Ko+xap2PU+tGeeB+E2NX8uvO78hYH8Sm1nNznp0/jLFR8M7206dPZ4shGymThnckymPgIccgY2FhIPEpwK1bty4MJMly6keGgRcX2lZYrJgwDHBep4IPtA/f0cUrbYsThmv5SEw0YWgb7VVMVKdFhjgoTpRjG/kYa6A++SWoQ4zRgS4SNsYs5EJ1FE8Wjffv33d5Y9m3cSPb6iv8xGfaM9YHdBBXPjnUWIB1499anz6hTLHGj1IbxvQNtI7nTDyMjgE7Y+YttNRpkWFuE0M+FZP/EepBtN03j9fte2LPIV+xpx/0hmcqQ/2v8inzcWrdbY5d5JGRPHXj/B67boz1AdBNOXLIk+J6jq7WGJvE6tmxnYaHLGkKDx+K5cTvHp6M8MAi+cgqUVdwrwcTkeVhSXSQkFu+wzn3MGOUBx6KJI9XwB/qkhd9Gwu+HKcHhqPfID/F8h3subZSRl5kigyJuOCTICbLSb26u4j6RwlZ2eE+xpDrGOMYU2xSV3rwV/dCZfm6xC6PG+pTHuHh2tyf8WFg8qLdGrRB9SOt8c82lNdanzy1n0Q8I8qHob7JtIznEsw/6o0BnWPnbUudFhnaRBljokRpzvbNY2y29F3fuM6xpz6pb0wO6cSvvv6nvGU+knQte611Jc817UFWOjc5dofmd2nd4Hqd+OX6QHmUp81azxUrM57/zaQdhgHF4OJVMDg0QDIM6iwP5GnxoiyXM8jiQI3yUPIDSnlTkP4SlJVs4F8tDqJVpma7NGEzqp/tkBdjmH1Rm2PbKFden19D1HTXYiFbUR7IUxsoy+XbGDd97a6VZbt99MWhL/4lGzmvpX4tJjWkZ6x8K8gyzmuH4z7UlhKUlXzuqyP6ZIb6j7bEjRxa5vGYvpd/uX3RN15jnUyrTvmS87nPeXk+RqK9lrpRXtfUKflSo+Z7DcnXiLrkk6j5VvMh1xeSVz8K6mcdpo0D/llOQpPgo30+etXH9nxsy8fyy8V47Y/X9wm+Dvnjjz+6h5f98bTHzT6jr6p2fZzzVRNJYxT2dR6vMx89l82l0h3JzAV4B5w/Eub/UzHn4R3S0LvpPxMeN2YX2dd5vM589Fw2l4k/GWuAd42lh2CN6cPjxpirwzrz0XPZbBsfxowxxhhjZmTn/2sLY4wxxphdxocxY4wxxpgZ8WHMGGOMMWZGfBgzxhhjjJkRH8aMMcYYY2bEhzFjjDHGmBnxYcwYY4wxZkZ8GDPGGGOMmREfxowxxhhjZsSHMWOMMcaY2Vgs/j92hLbhSJHUAgAAAABJRU5ErkJggg=="/>
          <p:cNvSpPr>
            <a:spLocks noChangeAspect="1" noChangeArrowheads="1"/>
          </p:cNvSpPr>
          <p:nvPr/>
        </p:nvSpPr>
        <p:spPr bwMode="auto">
          <a:xfrm>
            <a:off x="1101605" y="231837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84" y="1455528"/>
            <a:ext cx="6803969" cy="15033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84" y="2958860"/>
            <a:ext cx="6803969" cy="1612369"/>
          </a:xfrm>
          <a:prstGeom prst="rect">
            <a:avLst/>
          </a:prstGeom>
        </p:spPr>
      </p:pic>
      <p:sp>
        <p:nvSpPr>
          <p:cNvPr id="11" name="AutoShape 10" descr="Weighted Power Mean QM Quadratic Mean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036" y="4906909"/>
            <a:ext cx="304826" cy="3048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587" y="3276587"/>
            <a:ext cx="304826" cy="30482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83" y="4555295"/>
            <a:ext cx="6803969" cy="112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56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9135"/>
    </mc:Choice>
    <mc:Fallback>
      <p:transition spd="slow" advTm="9913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 smtClean="0"/>
              <a:t>Models Evaluated</a:t>
            </a:r>
            <a:endParaRPr dirty="0"/>
          </a:p>
        </p:txBody>
      </p:sp>
      <p:sp>
        <p:nvSpPr>
          <p:cNvPr id="4" name="AutoShape 2" descr="data:image/png;base64,iVBORw0KGgoAAAANSUhEUgAAAmMAAACHCAYAAABagl7AAAAAAXNSR0IArs4c6QAAAARnQU1BAACxjwv8YQUAAAAJcEhZcwAADsMAAA7DAcdvqGQAADCeSURBVHhe7Z0/ehNN9rbl75dMZiabzLwrAFYAswIzKwCyyYAVACsAVgCsAFgBkE1myCYzZJMB2WR8uhs9nuPjqu7qluS29D73dRXqrjp1zqlTfyW18MGvJQtjjDHGGDML/2/1aowxxhhjZsCHMWOMMcaYGfFhzJhGnj59uvj48ePq7uqAT/j248ePVY4xxphd4v+Wi/jT1fXG+Pz58+I///nP4m9/+9sq5zdsGmwYpXy4du1a91qCev/85z87mevXr69y+2nRuwlo73//+99BO7ThX//6VzEGJVrafFltrDGlXyL4//Xr167+X/7yl1Xu/yC2//73v7vrudoIr1+/Xjx+/Hhx//79rs3rjG9k+sbBlJj84x//6GTv3LnT3RtjjNkheIB/09y7d48fBazufnNyctLlHR4ernJ+8+HDhy7/+fPnq5wyqo/uVpB/8uTJ6u4ir1696tK63L59u9eOwFYpBjVym0v+DrVx02QfpvRLhLp9bTg6Orr0Npa4ceNG5wusO76HxgFlpDExOT4+bh5XxhhjrhZb+ZpS7871iQDo+ufPn8X8u3fvdq81bt68uVhueN0nFJsCXZvUN8S7d+8Wyw2zi0GL3dzmy/a3RPZhU/1Sqs/Y+Pbt2+puPvgE68uXL92nYrDu+G4dB2Nign708amZIM+flBljzNWn9zDGVyVT0MbDpiPYRG7cuHF2LbhevtM/+4rrxYsXZ5uIvhISjx49OrdBIYsciXzKSRHqk4cMerVZcc81SdeizwfIdlsglu/fv++e7aG9MTYCfZRjm0MOqM3yseRvrY2QdSKHPO0i5lkX1Nov2eyDfBS5/tA4YlxwwMgxQSeHlhJ9fYQ98igj4V+EPOrXYpbReEUWkIcp47tlHMDYmMi3bLuvXcYYY64Iq0/IzsFXK3zlQTGv3I+Fr3VIAj0PHz7svtIjCWyQD7xyz1cufBVEHb6S+f79e1dOmb6a0VdFUZaUdZPIkzwygB50k7g+PT3t8od8qNmtfaUk+JqKetiRDdkU5JGIm2LCPbpr/qpOqY2gcsrwmWvpwQavUb6v/X0+cA+qjz9cKz6KX0Z1kcGmQJ4ytUn6oc9HktqEnOpzLbgn1WKWwTYykSnjG1rHwdiYQM5TPIwxxlxtiocxNgEWdqW+jaqGNho2Az038/bt23MbW8zXRhM3E/LJ0zNKKmfz4jpucpLNG2G810aow2XeOId86LMb65SIm7eeL8rPyZEX/YGoO/sLuU5uI9ds3gJZ8rRJ6/kl5Fv6oOYDdVQ/2qOtyPNaQnV1wNDBRH4pVvJpyEfKiUG0h/14cEI2tiHHLIMtyiNjx7doHQdjYiLQm/vGGGPM1efC15R83cOzJ5F834K+yuGrEn11oq+VgK9flE+evk7haxy+wiHFvIjyZQPidUT2QF/91RjyQX602I2gIz5zhB9HR0fFrzijv60MtTH+yhHZ5YZ99iu8WDbU/iEkq3YC/tDPQ7HXV4n6Wo6vEZeHiwv1hnykXdgnjzKNLeIfGTMuSm1Xv7eOb5AfLeMAWmMi1KfGGGN2iwuHMRb0w/RMSr5vQRuQNisOAEA++mI+NrXhsWGpTOXxwAB6PihvPlP8jAz5oPKxm542W/5rhIODgy7xPBAbM7auCmP6oETp0NIKBwwOGhw48qEl0tJHvD548KDL53rosDVEqe1jxzeMHQetMRHIyC/gvqTXGGPM1aL4AD/vxHWw4VXvzMdyfHzcbQafPn06t0lwnfO1YfJphjYyEhtR3oAkS7lA35RP8CJDPqg8bnAtBxDix6b64cOHs/T27duurPapyByM6YMSqh9jwsGZNrbEiU+COJxgH0o2h3wk1oyDk5OTLh/bYw/PGY3RfLAZM75hyjhoiQkQX9od24rtW7dure6MMcZcVYqHMRZxNtFfv351r3FDGQP12JAgfp1XymeTZaPShspmxkbEZpI3KsnyCQMybFRTfGTjon1s2rwO+UA5XyuRp/KhrymRYzNFJz4qUQ9btU24RPZ307T0QZ8Pqq/4cEDgmk+pWg5jxITDP782vHfvXvEQNeSj6sg/DmnoWwd9Moa9SGkcQyl/6jhoiQnQXkCnIC4PHz5c3RljjLmy/H50bDvoQePlZrLK+Y0ehM/5PAzNL+EoU4oPy3Ovh5aR5QFndJCQu3374i/Z4kPOH1YPVPMKPFhNXfL0kPWQD7Qpli830i7lh6mFHsJGb0YPZMs211lPzCv5m+vkNuZyrmOMsvxQ+4d8oG9z/Wg/k8sVL/kDWabPR8roD+Xjq+4F11FfjkEJftWIzciY8b3OOGiJCX1KO40xxuweWz2MARsIm1amlg9sZpTnjYs8/bKMslzO5hcPDlEekK/pzXk1HwS+y39eo51IlMvIH9XN/kItT37lcumslXMd/cnyArlSvuizAaqf8zNZRv5Eanpko+QjbVSZ5ETWJ5slPYLyeGAS5Jf6N+dzXZID2ZdP8RpUHoky6MU3DnXGGGN2jwP+WS7kOwdfHfGVjZ6l4WsevspZbpbnvjIyZlPo6/D4VeBVgK8oSZoLxhhjdoudPYzxDA7PxPAcDhweHnabEXnGGGOMMbvCzh7GIjwcXvrvB4wxxhhjrjp7cRgzxhhjjNlVev9QuDHGGGOM2S4+jBljjDHGzIgPY8YYY4wxM+LDmDHGGGPMjPgwZowxxhgzIz6MGWOMMcbMiA9jxhhjjDEz4sOYMcYYY8yM+DBmjDHGGDMjPowZY4wxxsyID2PGGGOMMTPiw5gxxhhjzIzs/B8K//jx4+rqN9euXVvcvHlzdfcbyZBPeebz58+LHz9+LK5fv94lQR5l1L9z586F+tm2yHqGkI27d+821xtTR37ShsjXr1+7lP1Vu0m0OddrRXpKfbJvDLWVPshx3iQHBwfd62VN502N/W0yZo6IoTr0M+XMG60JmSjTN3+m+GeM2VM4jO0yNCGnw8PDXycnJyuJ/8k8efJklXOeo6OjC+XUV74Set++fbuSKNsm1eyUuHHjxrm6t2/f/vX9+/dVaZkxdfBXcpFXr1517SE/t1v5Svfu3Rv0qQQ2qI++fWeorZSNGRdjUV+1gK+kdZC9nLbZxjFsY17V5kakJHN8fHzB9hT/jDH7y14cxljIgMWMwwcLXdwUteBxuMp8+PDhrDxuJNJBOfDKfdQRbZdgEe4rf/jwYafj+fPnne/Yz35kxtShPG4Mgrrc41+uS7tpow6zkp2yeaNf9tfd/K86Q23Ncd406Ce1wJjsG5ctYGtdHdtiW/OK9tLHmhuqozUCNA765s8U/4wx+83shzEOTyxC8ROnMbCI5U2BhS8uklzrnWi2wztbbaJxMeSeRTOCPmROT0+7e2T6NiT0kmpQn8U7wkGoT+eYOmobr9QTtIGNAMiP7eY6bi6QZVogRtTDDv5Fn9GV/WVTIi9uWtSlHvn50zny0EM5fQvYRI4yUu4/QKfKsYVMluuzW6KvrYJy7ES9eSxiJ/qPvkj0C10ah4B+ElAe48jBgDy9alwqT4xpN7aQq0FZ7p9SHvS1q1SH8ZnHaATfkI9sYl5xHeNKfKiHf0JxjWSZKf4ZY/abWQ9jLEgsQixUtU1sCBa2vIiVDmPYYKGMNrSYsvFIRuAP8nHxzZRsR9Bf29BkO2+48rPEmDq0XbKUc12C/NjujOqOPSxjl3psrGywugb1T9QpefWZ6tBf9A/to08UT8pIbNDIkq8+4159yrVQXtRJin04ZLdEX1sFeST5K1/jYSj6j0/Ia/xJL/nyC105HrqOfaqxwCv52CFxLT/HthvZvrFPOUntreW1tivWQYa8EtSjrGWOiCl1oDSO1Qb1KzqizFRbxpj9ZrbDGItTXOx55X7sps/CxkLNRkNikWNRiwsbMix2LJRc50MBC6dkhD5FIB9dbFL5YKYy5GKKG2yNuEFGtHiXGFOHWBIX6NNJfmy3UNtJ2gTHgG3ZV3y1AdHXxI3+EMjiM2jDin4xLshTH3CNj4I66I+xp1w+0Oe5LdIpPS12S/S1VZCXx7vGFci/aFvtkV8xXhoLkueapOuoJ48b2ptjl+sMtZuyvrFPebQBOa+1XVkPZdHXSG6rQJ78ElPq0F+0X/0uaBP9TD2lOOam2DLG7D+z/dcW/JLo/v37Z79O5JV78sfy5cuXxd///vcuPX78uNPFr5Qyjx496l7fvXvXvb548WKxXEyLv4giDx3LRbP7tRPXDx486HyMYItfS8WkNs3F06dPF9++fVu8fv16lTMe2rncRBbLjWXx8uXLUbroQ/pEsSKW6JEO4kNM37x50/3yjF+dIa/+0Rggn7aQYp6Iv1KL4wd5yuQHqD52RbyGVrsR2ai1NYKMxobGjfTzazrG4rNnzzo5xiav6JOMbAB1kVfZOsQ2trYb1IaY1D7gPhPzWtuV9cjHuWDMauzkfmYMM/eWB8zF8oDVtYX5ozXHGGNKzHYYY5NhIWNhA165J38sLHgcmkjLd6tdXkkPeciy0bHYx020BhuB/GSB5QARNwo2UW0OSvqZOnJRNiL/8qERO2pDpqUOmycb+vHxcZePrDZUrslrQQcC/FfMWtEGxcGY/3KBxAZFvBWPeDCWvDY4+YssPivdvn27+l8AUIcyDszIch3HgNodDwsQYz3Fbktba6ATWYEtNnDqoY9y4iO/MrSltT/7mNJuoKw29lvYRru2Na8EeawJ+I58HGPksT7Qh4wL4oEMh3OuYYp/xpg/AatPyGaBr2j4SJ+P6HnVVzZjoAnxawx93B+/XuGefCCfe2zxytcKEGX4qgWd+StT1dVXDFxH25nl4trJ1KA81tdXHEM6++rgGzZrSb4L8obaTR42WkF2eYDrbCnpa6/4lY36HNnY9/qqL/uhr8Ag+g18pUdelFEfg3TGrw+Vp9i12M20tjXaEdSLedGOvgajDfIrjmn6nXLZoJyk6/jVn/zBN8Bmtkv5mHYjn9sToTz2D+S81nZlPUNsY14J7rPPgviWyqiDfjHFP2PMfjP7QwpsACy2eSNohcUvL2IsbCx4LHIQF3Qt9uTFDSvKADIk/NIGqzxBnbwRk/RMGvrihpyhXH5QT4eHuJhTFtvXUiejOiXIz+0mfmp3tCewFetEqId8fmYKiFWMnw5QpNz/kiWfTZs4Iqd2ch19IF926eOoW6CTe3RRF/3cx/gO2Y2MaStyko161QZizT35lEu34p79Ur9zD1yTQLL4jF61m2ugLnnca45k/X3tBsqkIyaNfcrzGCnlZbulduU6eU5kkKde3xzJOlrrRBkl/Ba0Jc4fjUPqiBZbxpg/F7MfxtaFRSwvzCxq5GsRj9egRZWFUGQZFlgWVvKVuI8LbyyLKerpg41QCzEJ/WyCEfJIoqVORot/CfJzu9lMpJ9EvLRpA/FmEy2h2EZ5oX7RRosM97F9grLsR2wn99Fv5PFJsujUvUAG/xRT9NGWOH6G7EbGtJVrHTykl/oR7KhM8hpvHHKiX+iJm7fyIY9dHQg03vFJ5bEvWtsNUS4m9Um8FqW8lnblOsiQatCWbcwrleUUx09p3UBvHCMttowxfy724s8h8YxJfHYDYj7XPMui51l4PoPnY+KDwVlG8BwIqVSWn/sQJdk+Sv4IyiA/69RXJ6M2lGSH2l2qw3NRyw3y7DmYCD5B7g+Qz9FenzzID8pjDGp+ow87yPMa21CKJdd6Pi5SsxsZ01b5iy7ya3pll7KSXpW39LvsAPazzVKe9Nf8E9QtkdtLEqU8UWtXqU6pH0uoD0qxqunoq1NrMzpyX7XEsc+WMebPxc4fxszlwgbzxx9/dD+W2LVNhA2djVGHSB6yfv/+/eLt27cXfllpjDHGXBY+jJlRcBjTL8V2DX6ZqP96AA4PD7t26JedxhhjzBz4MGb+lHCoLH1dZowxxlw2PowZY4wxxszIbP/pqzHGGGOM8WHMGGOMMWZWfBgzxhhjjJkRH8aMMcYYY2bEhzFjjDHGmBnxYcwYY4wxZkZ8GDPGGGOMmREfxowxxhhjZsSHMWOMMcaYGfFhzBhjjDFmRnwYM8YYY4yZER/GjDHGGGNmZOf/UPjHjx9XV7+5du3a4ubNm6s7s0kODg661ylD5sePH4tHjx4t7t+/v7hz584qd/t8/vy5GyN3795dXL9+fZVbBz+R//r1a+dnbSzV9FKPVAI5yUou5rWAf7It/xjz5mrgOfKbKEN5rT3IYB+Z0lhu1WPMzsNhbJehCTkdHh7+Ojk5WUmYTaH4tvDq1asuCfqDuvfu3VvlbJ8bN26c+Uy6ffv2r+/fv69KL4KPjJ1Yp+Rvn94nT56cK4uJMiAusqO8FvDv6OjonE70vH37diVh5kb90sK+zpGSzPHx8Tm9XFMvyuBLlGnRY8y+sBeHMRYQYJKyMTGBSWazaEFsgT5RvwgW18vi4cOHna/Pnz/vxoUOSX2HH/xl3MhP6fjw4UN3D1P0SgY91OOaTWWoXobNCv/kD6/cc0AzVwP6lNTCvs4RxnaU0ZiPB0/Zkm3KuI8HuxY9xuwLsx/GODwxMae+u2dy5gVNEzsuEExkJjeyTHgWAHF6etrlaXFkgYmQh4/UZ0ME6sc66I9Ee+jDhpA8+VwjN7QIZ/+jPhiyl/0v5UG2E+NETEnQFzPuWURJXKttXMeFdJ0Y0bexfzP4SZ0IhxZ01cj+0Xb0ECcxVi86FAdAF+2CrHsI5GOcgRigQ7HDTu7D0tzq6+e+vgXy8tjJedTRHFF8Yv+12Ojr/xK5TXE8QSxHbx5vQ20SfbGjj0jQ10bu93WOxPEusgx2sm300h7RoseYfWHWwxiTkUnJ5CpNzhaYnHnCsvmQr4WIxYp79LM4Msmxx0JC4po85ChHNi6c3JO0yUCsg33KtUjJHvmyR10t2tKncq6RqRH1cY0sSfpa7UX/S3nSU4oTqM5QzNSfJK61gSCjhVS2psaIa/JKoIOyuLADtqOOIehP9OgwM0UvZdQpbYrkKx4tKOZxM8ygk6R+VZ24Sff181DfQrYR85BHL9foIUU/YIwNz5HdmiMgXzXm0BllaKtsI6s+y4ftIT3G7BOzHcaYUHER0+I1dqIxOZnMgonLgkU+aNHRAgfYII+FhHIWhbgQoA8dItvQYhJ1SofssZAINuIon/VRl7zShl3Shx3qT7UHOW8oTsA1qSVm3Jdson8TMUIu+hqRrhxP5MlvgT5mI4htGquXdqIjx0FQp9aGEup36qGXA0E+mFGW55VkdZ/trjsfgLzYn/JTfmjTJnZTbHiO7MYcAXxnDKJHSYdQkG3qIkcbuCbFeA3pMWafmO2/tuAXNPxqSL+e4ZV78sfy6dOn7ldMpFu3bi2+fPmyWC6OXZn08Wucp0+fdinmRbuU8WsdrtERib/i4RdHywVo8ezZs67uixcvuld+7SPd3AvqIq8yiPqoV6OkD3l+YTTVnoh5kq3FKdIasxrSu06M5OM24Bdc/LIMXr9+3b1OgXHx8+fP7nUTqN+Xm1nnH9cPHjw4F0fgPs4r9Q/odZPzQcRf4lG+3GTP/IhlU2x4jgz7fFXmCL8I/fbt22J5kFwsD3edzy9fvly8e/duJfEbxgRt0a8lIfrbqseYfWC2wxgLB5OYSQ28ct+36NZYvnvqJitp+U51sXxHdbaIaZJr0iuxUbAYUM4rmxr5XLf4gCz20Pv48eOuHotEXpQFi7PaOoaaPrEpe0NxikyNmdh0jDLyBd8i6F6++17dlUGGDQ4fqR/bNUYveRzC2EjGxKYF/NPcQf+bN2/ObdAZ+odNDYb6ed2+bWHTNmrjSdTKPUc2P0fIYzyyNjJGOVwhwxqtgxZtAA5zuuZVbzCgRY8x+8RshzEmHpOYxOTStd5tjYGFDh2kOMFBC4Ums5I+zeIAxacXJycnXT4TP9avwWKBThbm09PTLi8eJuNiyuKFnMrGUNOHLfI2ZU+ytThFpsZMbMrnGvjChoJvAv34PaSf8cOnF7Q7y47RS31iRDw3AbFhA8RWRJ+M4IeI/gH3HBhAfm56Poxh0zbUJs+RdrY1R+RvPJxii3uVldoGtE31WvQYs0/M+j/wM/GZ0MAr95uGic/H29pomPB8/M3XmXGBZFFiMcKP9+/fd3k1kKU+etBHYuFFl+xRJnvYplwb5xiyPhYirnnHzfWm7A3FKdISM2Qok0xkEz4j3yeLbr6+Rg4feOXTIV5F1sE9dfi0iUWfeiT8Ey166RdiIj2tEOfa4Y2YKU7EDNu84g+bamwH/mFffcjGqfKhfp4yH8ayaRt5PHmO/Ab5Pll0b3qOIMt4ZBzjN2W0nTrxjfbDhw+7T750sEUv41QyrXqM2RtWz47tLDRh+a5/dVem70FQypaL3ln+cgE4uxdcP0kPwlJfdUjUWb4L7sp4sDXaQ2d80Jq8qK/2MK3I+nL9sfaglDf0wKzyWmLGg83kk8c1cC2b68YIeVINfNSv+qQ/P/ybdUg2pzi+WvQuN6qujDb2gUxsI3aIYw3GF/ZkW/Y17oA8dEQ5/In09XNL33I9NJ64jnGL/TfFRu7/jOfI1ZkjpXGKHeyJbJuUbbfoMWZf2Is/h8Q7TN5JDsG7ZL1T1jtXwTs73p1SxityekeIDd4F5k85pK9mX+X53WnWhz3sl/yKSF/JF2i1B7U2gfQM+dMXM4Ed6SnZbPU5x4h76PMPVC/rh6wDmyUox26kTy/5kOtkchv5Acpyc61+OiYUs1hXSAefesR4lZCekgx1aSNlvMY+KvVjzkNe9UHxirbG2CjVL6E2xboRlQ+NNyjlCekZ8qevjQI70lOy2epzjhH30OcfqF7WD1kHNktQjt1IS4xqbYu06DFm19n5w5gx+wCbzR9//NH9UrJvYxqi9UBnjDHm6jDrM2PGmP/BIWqdg5gxxpjdxJ+MGWOMMcbMiD8ZM8YYY4yZER/GjDHGGGNmxIcxY4wxxpgZ8WHMGGOMMWZGfBgzxhhjjJkRH8aMMcYYY2bEhzFjjDHGmBnxYcwYY4wxZkZ8GDPGGGOMmREfxowxxhhjZsSHMWOMMcaYGfFhzBhjjDFmRnwYM8aYPeTp06eLjx8/ru6MMVeZnT6Mff78uUsZFqBa/tevX1d3ZX78+LG4f//+qEWsRe9UpviTIRbybxP6jOO4Lq9fv17cuXOnS1eVsX3csg4cHBx0aSrob7FDfJ89e9Zdq04tDekyw6hfx4yZP8MawjgkLpsaYy0x29kx/WuHuXfv3q/chJOTky7v8PBwlfObDx8+dPnPnz9f5ZRRfXS3gvyTJ09Wdxd59epVl6YwxZ/M7du3z/zbhL7IOm1rYdv6p7LpOG6KqxqvyNu3b7vY3bhx48rFLzK2j5HtWwcAGdIU6FfWtRY7xPbo6Ki7RlZ2S2lI1y4x1/hXLMeMmau6hmyS79+/d2N2U23MMSv1N+W7OKZ3+jBGJxB4DlqCwxZ5OV8L0unp6SqnDh0+hqHO5zBEmspYfzLxMAbr6ous27Yhtq1/HTYZx01xleMlNBdZqK86Y/p4aB0AZEhj0bp2fHw8aIe41mT0pjSujfvEXOOfmJJgzJi5imvIpuHgpNhsghizUn/Xxv5VZ/avKd+9e9c928DrWO7evdu9xrp8RLl8V3h2LbhevlNcXL9+vbt/8eJFV5+vSfjYk48/xaNHj7qPVwWy+kqFfMpJEeqThwx69TUp9/o6Vdegj1ulFxs1oj+SLdkS2d9M1Ac5FvEjXq6jn7Hd3JfaBllnjG+mFouafq4ZM+i/efNmlwfRJn7GdkjvmLghG9uboSz2S/SJMrWLMUd5tMd9jlFpDgy1KdqUjRyvvj4E8lpiE32NfkAur/U35YoZ8tGXMW3NUIZMBB+ivZY4ZBvItNYHbMY4DK1rrXEjf3kga1onte6hcwx9vpC37fE9ZBP6+oD70vjnWn0IpfLS2Grtm4zGTMuYjOOLfGySxzW25aOgnDLpQDbGIIPcUNuo3zefc3nWSXnfWEAOamNXbRLYkg0RZbBH22Un9yfgD3LkYz/HMdIyry+F1aFsFniXx0fpnGJ55X4sfBxPEnwk+vDhwwsnZppKPvDKPfY4tVMH+3qnTplO1jrVR1lS1k0iT/LIgNqmduqTOe6jr9SpfbxOmfzpswU1f1Ufoj7FAn1cS55YkKKf0s011NomnbX4ZmqxqOmnnES/yxfZVFzQR3ns01jONTJCeX39nEFecZR+6qKDa/mOb2qjkLzaoPL4rq+1TdJRitdQH4L01GIT/eCaMpL8UHlLf+MXepDnWmM+2mhpa0afkvMVqNCnSXwKNCYO0Qb3+DmlvuRjn0oGkOG6dZ4I6uBTDcpkI1P7ZGzIF8pIlG16fA/ZlI6hPqDdlJO4jutFjFeOQbYDQ75lpEPX2BsakyBZXZNq81B50ScS8jWks9S22lwbKpdOylrGAvWQiX0QUZwUE92jR2CfBNJFkl2u8/5Qi2NkaExdJrMdxhigBEEdrKDEgduCBg71NcnQQedwDTG/NDDIJ08bg8rpXK5jx0g2ToB8nyccZbFceqMP1Kl9ZB1l+2z1+Rtt6V6xYAAKfEA/r5RnvyjTpIDctpb4RoZikfUD8iWbsR3q83Xjlm1Hsv5on3rk4RvkBYfrPP5ZEFjcdJ91DrUJuI956Bnqw6wnxqbkRx4j0Sfo629AlnIxta0RdBC/qIM2EmOYEgeQD631+/oUkCFRJt1iKG4i18vk+EYUV41DaPGF622M7yGbsT+oM9QH3Mc6kO3kGJTs5DpDfUMZSdfUVZtrYxKiHa6jH3EerrNGldpWm2tD5ZDL0U8edSGPBchxiMim2sYYQZ482q3yaF/X2M7tpzzmxThm0D00pi6L2b6m5GNDPhq8du1ad88r930fJ5bQR6B8NK+P5/XxKvDRaPzYXvr5aJKPQUkxL6J82YB4HZE9iB8Hl+Cj3GVnd792os18BMvrUD1RsyX/W/wFtQ/bAn3Ei9fYJ8RJ8fvy5ctK+iIxlkPxhamxiDEotYNy9KoManGTTGvcatAWga3lpD4b37FM4G8c/4ovTGlTidY+jHpKsYl+xDGi8tb+LlGyMbattJM+e/PmTfcVBbZpo75ymBKHSGt9ZJAFXiWXUd46casxtn6rL9sY30M2Y3+go6UPphDttPo2BP72jckS0Y9NrVGlthFHQbnm2lC5GDsWaEstdtRbHsDO9mleibmu9fXmmDW5FsfMNsfUWGY7jBEgvvdlkAKv3PcFroSCTqeRGBRA/vJ0fS6fwGtAEHCVqTwPIvmmQSbQuy7YXJ7uOz8eP37c2W55HqQPtS37W2NoYaEcvx48eND5y/VQ/4yJr1g3FrV2EAf1YR/b7Ocx0O5v37511+u2SUzpw0jNDzGlvzObaqs2OcaOnsPRAr6JOEypj5z6NLKJuNUYW3+bvkRiLKbYXLcPW9lkPPrG5Bg2tUapbRnNtaHydci+R9ivOQAR558/f3b3HNCIG3lHR0db6+vLGFMtzHYYY0DSaBInUl1PGah0GhPn06dPZ4cz4DrnK9DY1CQj6ROZiGQpF+hjsKwLg0DvuE5PT7s8TdapyF90itrkAslHGSYcfpDHRKCtJycnXQzI75tQMCa+Yt1Y1NqBPpX1IZlt9HMf0R5wz4IP67ZJTOnDSM0PjRGVj+nvzKbaiiyLNm0msS5o81w3Dq31KYtwrz6NbCJuNbTWEb8WtuULOiLc5/E9xuY6fZjHVh+bjEffmByDfMIPMWWNkp7aXBsqnwp7cF997fvEXAcvxrFiP+Vc0MK668ImmfXXlASCAQ68cj8FOo3OhthppXw6mY9cmVTYY5Dx7uXWrVtdR0Qky6c1yDBQtNCNgc5lQNPZesUeOrGvSbXuIMBfBjJ61ba+Qaz2SZ4JyDXvEriWP/KbPnr//n2XJ3LbxsQXhmKR9ZfI7UAH9tHT0l+b6uexMDaJqWLEO0PZndqmHK+WPuxjaIyM7e8S6/ZfBB20j1iiQ6wbh9b6fX0a2UTcasQDaAvb8qVlfI+x2dIHefwDdrCBXvKZ331sOh7ULY3JMcinddco6UGH2oZPmmtD5VNAB/QdQinDLmNGdti7sMunqTXbpf4ew7rrwkZZPTu20yxPtd0Dejz0F9FDjzmfh/aWh5auTCk+GMm9HhBElgcP0UFCbvnu7twDglEe9MCjHhjkQUvqksc1oId7peVAPPcQYYRy6Y/XkG2hI7YNvaRYJ+ogRjkWKqPt1FU+bdC9KLVtKL6ZvliU9HMd2wO5HdSJD9vmOjluLf2ciTqzfq5j3WyPa9qptpHyA65j2wQ5Xi19mPVkX/vGCIztb+oiE5nS1hL4ovqRKXEA5bXWJ48yyeU+VT6MjZtAbigWx8e/f6meyX0rhnzJNrled3yPtdnSB6X1grUk+pEf6OY6x3Ns30hG19lv8vAhE2VzvRxT9KyzRomhuTZ2LnLdNxbwk3v09iE59RvgR45btF/q71gO2Z9Iy5i6LC7f4pYg0KXDTC0fGByU0yER8jRwKMvldFicmFEekK/pjXmyX/NPRP2tttApvbzGOlkHyJecD9SXDcllSj5INueXkGwtFlEP1yU/oc+/WAddUSev2c/cz5moM+vnOrYl29OCkfNLtLYpknX29WHWU/NJ9Wo2Vd7XFsj2I7WyPrsZ2lobR2PiADmvpX4tfjWkp1VedvpAhjEWNzYY8q3mS7bJdYxx1jtlfA/ZFH19IEr6or+xvGYHar71UdKH7WhfRNlcD5vRNq/ZjzFrVEZtq1Erzzq57hsLHKjyQbxErgeluGX7EOvl8pLeDDYkU2v3ttmbw9i2YCBxUmZRI/GOs7TImd3msvtZm5Ux24LxNcemAh7fm2cX9yI+UcPH0kHUnMeHsQEY6EwCBhSJdyJ8zG32i8vuZ2x4szL7isf35vFetN8c8M+yY00DPLA85ZcwZrdwPxtjrjJeo/YPH8aMMcYYY2Zk9j8UbowxxhjzZ8aHMWOMMcaYGfFhzBhjjDFmRnwYM8YYY4yZER/GjDGmAf4EDX82ZdfRnwSa8udjjDHbwYexFSxM/A2uMYstsvzE+LLgb3zxt7NabdIm/r6Y/j5ciVYZ2orMVd+MDg4OupSvt8Wc44a/k8ffbJv6N+Mug7HxaYnNuv06ZTwT62fPnq3uxjF23kJLnZoM97SrlCjjv0SgLdSdG9owJi7bQONp7FjN8opvH+uO3bG0+GSuCPzXFub3n0MgHC1/tkEg3/cfG/K/D8e/6bUO8e9nkfhbYEN/3oH/FDDWyW1bR6bP9pzIx3y9LeYaN/wHkOhhXIyxfdmMjc9QbAAZ0hSmjmfizH+4OZax8xZa6vTJEL9YFpNiy//eThzmBr+H+nvbKDZjx2qWj/GtIVvboLRutPhkrgY+jAWYXGMYGugsNKR10R9Q5X9bZsHF5pBtFlqS/t4WCwZ14mRtkdEmpNjoj+wOHRbmAt9I+XqbzDFuNAbyJn0VGROfodjAOv06ZTwT4xa/MlPmbUudKXoloz+PRHu5Hzt2N81VOozB2HhE+aE+gGhr05TWjRafzNVg+zvVFmExioOPP/CZJ3eW4Z53heTld8TkxUVZdZXPIkgSDHTlIYNeTU7uddjhep1FDzvojrChoLcEtqiD/5FYp0UGiGX++3ZjJzgxJtboJUWb3KOL9rFREkvJy5cYO/o46or9AfhGytcR9avYtXFDPrFBD9dRd/ST/PgHc8mLsc5QhkyEdpKn9g3Fv2RjTH3FJsY6/+293K99fZPBt7HjWZ9C5npDUAe/In3zFlrqjNVLPDSeBP2AHmLXSkvfo498rvExj988N3jti32rTvIpL/V/tomu6DtxIIFkxFDdKI8OyqIvmxy7EOWxpfnNfWndkE8k8sfGj7w8nymP44D6Zn0u7lQ7BJOAwZbf7bEwCQaQBhEDknIGFoOJgYusBh9lWhgoz7J5QaOcpEHMNTKAHnSTuNakyWAbv6MMebSJVxJ684BHXrYy1KWOFgkRY9EiUwK71MuLTB/EAF+1IES7XJOIH7HmWnFDXnWBWERdijnXQvrydUTjZFfHDfmKI9eKpfyUXnTShugnibwYM6E4xL5l3JGn8dga/2iDe/ycUl/ycQORDCDDda1vhsAv6veNZ8lE0E+8KNvUvG2pM0Wv/Nd4F+RR1gJ2W/uuNK5BeXlu9PkwpHOo/2s20SdkQ9fyp7Wu5KVnW2NX8qX5jQ/UJXGtMSl7U+On+nE+q13co5dyrUFmOhd3qh2CAcNA0CBhQDFIyGMwqpzBGa+F3vFqIKmculxLL0g2T8R4HzcuoCyWl8Bn6pDwHR3aFPEDXVGnwE/ya1CmiQrSGeu0yAhNOlKMyxCKZYw7bYzv3FgEhOxkn7TJxbqAPG0QyJLydURjYZfHTe5/+RljqbEj37PdDDqIQ9RBbFl8gfKW+Gcb8qG1ftwM5BN9JJAhUSbdIvdNDexKz9B4zrGGbczbljpj9Sp+pX4n7qX8Eq19F/XFcd03N2L/Zfp0DvX/mPlI0jX6xtSVfa63NXYl3ze/8Sv6BpRPjR/k+opLrJPHhZnGTv+a8tq1a4vlQD/3axZ+sq1rfiUId+/ePfulIL8sQYYU8yLKp56I15H4S7abN2+urtrBz+WEXywnRqfr8ePHiwcPHiyWi9xafwh2OZkWX758Wfz1r3/t9EjncrFYSbTJCH41hJ+UvXz5svt1WQvoRSe/3kIHv+DiNcYqtpMYLCd/17cQy8ijLv1D/yHLNW0Ywz6Mm4xsEx+BDWKvMoh2M8QFf9+8edP9Uoz2EdtHjx6dlbfEv2ajtT4yyAKvkssor6VvMthoHc8lXduat5uG+fbz58/iLycV4xam9H0c14phy9zI1HQO9b+up9icWndbY1dl6BfozvO7xNT4iVi/ZT0309j5/9qCgcKCwOLIosM9Gy0bKnkstgwUDS4GG/lKbPx58WQjgrxYLd/lrK42B7YY0NjC5+U7jMXyXcvZpNAgx9cI9fr8YYKga/kOprtGJzZiW1tkBOX4iV9MxtLiXgPfsUFdNi3068AzBvqQumx66OR66iKw6+MmExfPCL7IrxZ08CIOOqBoE1o3/lPrI/ft27fV3f8Y0zeZMeO5pGsb87alzhi98vHevXvFOONr3Gj72ETfQ54b6zDU/7QfpszHdepG8GMTY1fymbHzOzLWB4HMJtZzc56dP4xpo+BUrw2UBUYDS+VaOJBTGYnFioU5UlrwGHhs2ttG/gsmGwtA9IXJx+CvLYZMMsVA73iYMLRBultkdB0nGv6MXQCwhX70nZ6ednmtn6xF8IM+YOPDb3TkxbKVfRw3EBdt+gj7tXFSAlniQaxJHFC1MK8b/9b6MX7APRtEZkzfwNTxHOdDDXyRHKBz7LxtqTNGL3Eg3sQnwzihDH0ttPZdDfkWYxjH6hSks9b/Ko+xap2PU+tGeeB+E2NX8uvO78hYH8Sm1nNznp0/jLFR8M7206dPZ4shGymThnckymPgIccgY2FhIPEpwK1bty4MJMly6keGgRcX2lZYrJgwDHBep4IPtA/f0cUrbYsThmv5SEw0YWgb7VVMVKdFhjgoTpRjG/kYa6A++SWoQ4zRgS4SNsYs5EJ1FE8Wjffv33d5Y9m3cSPb6iv8xGfaM9YHdBBXPjnUWIB1499anz6hTLHGj1IbxvQNtI7nTDyMjgE7Y+YttNRpkWFuE0M+FZP/EepBtN03j9fte2LPIV+xpx/0hmcqQ/2v8inzcWrdbY5d5JGRPHXj/B67boz1AdBNOXLIk+J6jq7WGJvE6tmxnYaHLGkKDx+K5cTvHp6M8MAi+cgqUVdwrwcTkeVhSXSQkFu+wzn3MGOUBx6KJI9XwB/qkhd9Gwu+HKcHhqPfID/F8h3subZSRl5kigyJuOCTICbLSb26u4j6RwlZ2eE+xpDrGOMYU2xSV3rwV/dCZfm6xC6PG+pTHuHh2tyf8WFg8qLdGrRB9SOt8c82lNdanzy1n0Q8I8qHob7JtIznEsw/6o0BnWPnbUudFhnaRBljokRpzvbNY2y29F3fuM6xpz6pb0wO6cSvvv6nvGU+knQte611Jc817UFWOjc5dofmd2nd4Hqd+OX6QHmUp81azxUrM57/zaQdhgHF4OJVMDg0QDIM6iwP5GnxoiyXM8jiQI3yUPIDSnlTkP4SlJVs4F8tDqJVpma7NGEzqp/tkBdjmH1Rm2PbKFden19D1HTXYiFbUR7IUxsoy+XbGDd97a6VZbt99MWhL/4lGzmvpX4tJjWkZ6x8K8gyzmuH4z7UlhKUlXzuqyP6ZIb6j7bEjRxa5vGYvpd/uX3RN15jnUyrTvmS87nPeXk+RqK9lrpRXtfUKflSo+Z7DcnXiLrkk6j5VvMh1xeSVz8K6mcdpo0D/llOQpPgo30+etXH9nxsy8fyy8V47Y/X9wm+Dvnjjz+6h5f98bTHzT6jr6p2fZzzVRNJYxT2dR6vMx89l82l0h3JzAV4B5w/Eub/UzHn4R3S0LvpPxMeN2YX2dd5vM589Fw2l4k/GWuAd42lh2CN6cPjxpirwzrz0XPZbBsfxowxxhhjZmTn/2sLY4wxxphdxocxY4wxxpgZ8WHMGGOMMWZGfBgzxhhjjJkRH8aMMcYYY2bEhzFjjDHGmBnxYcwYY4wxZkZ8GDPGGGOMmREfxowxxhhjZsSHMWOMMcaY2Vgs/j92hLbhSJHUAgAAAABJRU5ErkJggg=="/>
          <p:cNvSpPr>
            <a:spLocks noChangeAspect="1" noChangeArrowheads="1"/>
          </p:cNvSpPr>
          <p:nvPr/>
        </p:nvSpPr>
        <p:spPr bwMode="auto">
          <a:xfrm>
            <a:off x="1101605" y="231837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0" descr="Weighted Power Mean QM Quadratic Mean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036" y="4906909"/>
            <a:ext cx="304826" cy="3048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587" y="3276587"/>
            <a:ext cx="304826" cy="3048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62" y="1299205"/>
            <a:ext cx="5876925" cy="13239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2" y="2623180"/>
            <a:ext cx="58769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74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837"/>
    </mc:Choice>
    <mc:Fallback>
      <p:transition spd="slow" advTm="458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 smtClean="0"/>
              <a:t>Models Evaluated</a:t>
            </a:r>
            <a:endParaRPr dirty="0"/>
          </a:p>
        </p:txBody>
      </p:sp>
      <p:sp>
        <p:nvSpPr>
          <p:cNvPr id="4" name="AutoShape 2" descr="data:image/png;base64,iVBORw0KGgoAAAANSUhEUgAAAmMAAACHCAYAAABagl7AAAAAAXNSR0IArs4c6QAAAARnQU1BAACxjwv8YQUAAAAJcEhZcwAADsMAAA7DAcdvqGQAADCeSURBVHhe7Z0/ehNN9rbl75dMZiabzLwrAFYAswIzKwCyyYAVACsAVgCsAFgBkE1myCYzZJMB2WR8uhs9nuPjqu7qluS29D73dRXqrjp1zqlTfyW18MGvJQtjjDHGGDML/2/1aowxxhhjZsCHMWOMMcaYGfFhzJhGnj59uvj48ePq7uqAT/j248ePVY4xxphd4v+Wi/jT1fXG+Pz58+I///nP4m9/+9sq5zdsGmwYpXy4du1a91qCev/85z87mevXr69y+2nRuwlo73//+99BO7ThX//6VzEGJVrafFltrDGlXyL4//Xr167+X/7yl1Xu/yC2//73v7vrudoIr1+/Xjx+/Hhx//79rs3rjG9k+sbBlJj84x//6GTv3LnT3RtjjNkheIB/09y7d48fBazufnNyctLlHR4ernJ+8+HDhy7/+fPnq5wyqo/uVpB/8uTJ6u4ir1696tK63L59u9eOwFYpBjVym0v+DrVx02QfpvRLhLp9bTg6Orr0Npa4ceNG5wusO76HxgFlpDExOT4+bh5XxhhjrhZb+ZpS7871iQDo+ufPn8X8u3fvdq81bt68uVhueN0nFJsCXZvUN8S7d+8Wyw2zi0GL3dzmy/a3RPZhU/1Sqs/Y+Pbt2+puPvgE68uXL92nYrDu+G4dB2Nign708amZIM+flBljzNWn9zDGVyVT0MbDpiPYRG7cuHF2LbhevtM/+4rrxYsXZ5uIvhISjx49OrdBIYsciXzKSRHqk4cMerVZcc81SdeizwfIdlsglu/fv++e7aG9MTYCfZRjm0MOqM3yseRvrY2QdSKHPO0i5lkX1Nov2eyDfBS5/tA4YlxwwMgxQSeHlhJ9fYQ98igj4V+EPOrXYpbReEUWkIcp47tlHMDYmMi3bLuvXcYYY64Iq0/IzsFXK3zlQTGv3I+Fr3VIAj0PHz7svtIjCWyQD7xyz1cufBVEHb6S+f79e1dOmb6a0VdFUZaUdZPIkzwygB50k7g+PT3t8od8qNmtfaUk+JqKetiRDdkU5JGIm2LCPbpr/qpOqY2gcsrwmWvpwQavUb6v/X0+cA+qjz9cKz6KX0Z1kcGmQJ4ytUn6oc9HktqEnOpzLbgn1WKWwTYykSnjG1rHwdiYQM5TPIwxxlxtiocxNgEWdqW+jaqGNho2Az038/bt23MbW8zXRhM3E/LJ0zNKKmfz4jpucpLNG2G810aow2XeOId86LMb65SIm7eeL8rPyZEX/YGoO/sLuU5uI9ds3gJZ8rRJ6/kl5Fv6oOYDdVQ/2qOtyPNaQnV1wNDBRH4pVvJpyEfKiUG0h/14cEI2tiHHLIMtyiNjx7doHQdjYiLQm/vGGGPM1efC15R83cOzJ5F834K+yuGrEn11oq+VgK9flE+evk7haxy+wiHFvIjyZQPidUT2QF/91RjyQX602I2gIz5zhB9HR0fFrzijv60MtTH+yhHZ5YZ99iu8WDbU/iEkq3YC/tDPQ7HXV4n6Wo6vEZeHiwv1hnykXdgnjzKNLeIfGTMuSm1Xv7eOb5AfLeMAWmMi1KfGGGN2iwuHMRb0w/RMSr5vQRuQNisOAEA++mI+NrXhsWGpTOXxwAB6PihvPlP8jAz5oPKxm542W/5rhIODgy7xPBAbM7auCmP6oETp0NIKBwwOGhw48qEl0tJHvD548KDL53rosDVEqe1jxzeMHQetMRHIyC/gvqTXGGPM1aL4AD/vxHWw4VXvzMdyfHzcbQafPn06t0lwnfO1YfJphjYyEhtR3oAkS7lA35RP8CJDPqg8bnAtBxDix6b64cOHs/T27duurPapyByM6YMSqh9jwsGZNrbEiU+COJxgH0o2h3wk1oyDk5OTLh/bYw/PGY3RfLAZM75hyjhoiQkQX9od24rtW7dure6MMcZcVYqHMRZxNtFfv351r3FDGQP12JAgfp1XymeTZaPShspmxkbEZpI3KsnyCQMybFRTfGTjon1s2rwO+UA5XyuRp/KhrymRYzNFJz4qUQ9btU24RPZ307T0QZ8Pqq/4cEDgmk+pWg5jxITDP782vHfvXvEQNeSj6sg/DmnoWwd9Moa9SGkcQyl/6jhoiQnQXkCnIC4PHz5c3RljjLmy/H50bDvoQePlZrLK+Y0ehM/5PAzNL+EoU4oPy3Ovh5aR5QFndJCQu3374i/Z4kPOH1YPVPMKPFhNXfL0kPWQD7Qpli830i7lh6mFHsJGb0YPZMs211lPzCv5m+vkNuZyrmOMsvxQ+4d8oG9z/Wg/k8sVL/kDWabPR8roD+Xjq+4F11FfjkEJftWIzciY8b3OOGiJCX1KO40xxuweWz2MARsIm1amlg9sZpTnjYs8/bKMslzO5hcPDlEekK/pzXk1HwS+y39eo51IlMvIH9XN/kItT37lcumslXMd/cnyArlSvuizAaqf8zNZRv5Eanpko+QjbVSZ5ETWJ5slPYLyeGAS5Jf6N+dzXZID2ZdP8RpUHoky6MU3DnXGGGN2jwP+WS7kOwdfHfGVjZ6l4WsevspZbpbnvjIyZlPo6/D4VeBVgK8oSZoLxhhjdoudPYzxDA7PxPAcDhweHnabEXnGGGOMMbvCzh7GIjwcXvrvB4wxxhhjrjp7cRgzxhhjjNlVev9QuDHGGGOM2S4+jBljjDHGzIgPY8YYY4wxM+LDmDHGGGPMjPgwZowxxhgzIz6MGWOMMcbMiA9jxhhjjDEz4sOYMcYYY8yM+DBmjDHGGDMjPowZY4wxxsyID2PGGGOMMTPiw5gxxhhjzIzs/B8K//jx4+rqN9euXVvcvHlzdfcbyZBPeebz58+LHz9+LK5fv94lQR5l1L9z586F+tm2yHqGkI27d+821xtTR37ShsjXr1+7lP1Vu0m0OddrRXpKfbJvDLWVPshx3iQHBwfd62VN502N/W0yZo6IoTr0M+XMG60JmSjTN3+m+GeM2VM4jO0yNCGnw8PDXycnJyuJ/8k8efJklXOeo6OjC+XUV74Set++fbuSKNsm1eyUuHHjxrm6t2/f/vX9+/dVaZkxdfBXcpFXr1517SE/t1v5Svfu3Rv0qQQ2qI++fWeorZSNGRdjUV+1gK+kdZC9nLbZxjFsY17V5kakJHN8fHzB9hT/jDH7y14cxljIgMWMwwcLXdwUteBxuMp8+PDhrDxuJNJBOfDKfdQRbZdgEe4rf/jwYafj+fPnne/Yz35kxtShPG4Mgrrc41+uS7tpow6zkp2yeaNf9tfd/K86Q23Ncd406Ce1wJjsG5ctYGtdHdtiW/OK9tLHmhuqozUCNA765s8U/4wx+83shzEOTyxC8ROnMbCI5U2BhS8uklzrnWi2wztbbaJxMeSeRTOCPmROT0+7e2T6NiT0kmpQn8U7wkGoT+eYOmobr9QTtIGNAMiP7eY6bi6QZVogRtTDDv5Fn9GV/WVTIi9uWtSlHvn50zny0EM5fQvYRI4yUu4/QKfKsYVMluuzW6KvrYJy7ES9eSxiJ/qPvkj0C10ah4B+ElAe48jBgDy9alwqT4xpN7aQq0FZ7p9SHvS1q1SH8ZnHaATfkI9sYl5xHeNKfKiHf0JxjWSZKf4ZY/abWQ9jLEgsQixUtU1sCBa2vIiVDmPYYKGMNrSYsvFIRuAP8nHxzZRsR9Bf29BkO2+48rPEmDq0XbKUc12C/NjujOqOPSxjl3psrGywugb1T9QpefWZ6tBf9A/to08UT8pIbNDIkq8+4159yrVQXtRJin04ZLdEX1sFeST5K1/jYSj6j0/Ia/xJL/nyC105HrqOfaqxwCv52CFxLT/HthvZvrFPOUntreW1tivWQYa8EtSjrGWOiCl1oDSO1Qb1KzqizFRbxpj9ZrbDGItTXOx55X7sps/CxkLNRkNikWNRiwsbMix2LJRc50MBC6dkhD5FIB9dbFL5YKYy5GKKG2yNuEFGtHiXGFOHWBIX6NNJfmy3UNtJ2gTHgG3ZV3y1AdHXxI3+EMjiM2jDin4xLshTH3CNj4I66I+xp1w+0Oe5LdIpPS12S/S1VZCXx7vGFci/aFvtkV8xXhoLkueapOuoJ48b2ptjl+sMtZuyvrFPebQBOa+1XVkPZdHXSG6rQJ78ElPq0F+0X/0uaBP9TD2lOOam2DLG7D+z/dcW/JLo/v37Z79O5JV78sfy5cuXxd///vcuPX78uNPFr5Qyjx496l7fvXvXvb548WKxXEyLv4giDx3LRbP7tRPXDx486HyMYItfS8WkNs3F06dPF9++fVu8fv16lTMe2rncRBbLjWXx8uXLUbroQ/pEsSKW6JEO4kNM37x50/3yjF+dIa/+0Rggn7aQYp6Iv1KL4wd5yuQHqD52RbyGVrsR2ai1NYKMxobGjfTzazrG4rNnzzo5xiav6JOMbAB1kVfZOsQ2trYb1IaY1D7gPhPzWtuV9cjHuWDMauzkfmYMM/eWB8zF8oDVtYX5ozXHGGNKzHYYY5NhIWNhA165J38sLHgcmkjLd6tdXkkPeciy0bHYx020BhuB/GSB5QARNwo2UW0OSvqZOnJRNiL/8qERO2pDpqUOmycb+vHxcZePrDZUrslrQQcC/FfMWtEGxcGY/3KBxAZFvBWPeDCWvDY4+YssPivdvn27+l8AUIcyDszIch3HgNodDwsQYz3Fbktba6ATWYEtNnDqoY9y4iO/MrSltT/7mNJuoKw29lvYRru2Na8EeawJ+I58HGPksT7Qh4wL4oEMh3OuYYp/xpg/AatPyGaBr2j4SJ+P6HnVVzZjoAnxawx93B+/XuGefCCfe2zxytcKEGX4qgWd+StT1dVXDFxH25nl4trJ1KA81tdXHEM6++rgGzZrSb4L8obaTR42WkF2eYDrbCnpa6/4lY36HNnY9/qqL/uhr8Ag+g18pUdelFEfg3TGrw+Vp9i12M20tjXaEdSLedGOvgajDfIrjmn6nXLZoJyk6/jVn/zBN8Bmtkv5mHYjn9sToTz2D+S81nZlPUNsY14J7rPPgviWyqiDfjHFP2PMfjP7QwpsACy2eSNohcUvL2IsbCx4LHIQF3Qt9uTFDSvKADIk/NIGqzxBnbwRk/RMGvrihpyhXH5QT4eHuJhTFtvXUiejOiXIz+0mfmp3tCewFetEqId8fmYKiFWMnw5QpNz/kiWfTZs4Iqd2ch19IF926eOoW6CTe3RRF/3cx/gO2Y2MaStyko161QZizT35lEu34p79Ur9zD1yTQLL4jF61m2ugLnnca45k/X3tBsqkIyaNfcrzGCnlZbulduU6eU5kkKde3xzJOlrrRBkl/Ba0Jc4fjUPqiBZbxpg/F7MfxtaFRSwvzCxq5GsRj9egRZWFUGQZFlgWVvKVuI8LbyyLKerpg41QCzEJ/WyCEfJIoqVORot/CfJzu9lMpJ9EvLRpA/FmEy2h2EZ5oX7RRosM97F9grLsR2wn99Fv5PFJsujUvUAG/xRT9NGWOH6G7EbGtJVrHTykl/oR7KhM8hpvHHKiX+iJm7fyIY9dHQg03vFJ5bEvWtsNUS4m9Um8FqW8lnblOsiQatCWbcwrleUUx09p3UBvHCMttowxfy724s8h8YxJfHYDYj7XPMui51l4PoPnY+KDwVlG8BwIqVSWn/sQJdk+Sv4IyiA/69RXJ6M2lGSH2l2qw3NRyw3y7DmYCD5B7g+Qz9FenzzID8pjDGp+ow87yPMa21CKJdd6Pi5SsxsZ01b5iy7ya3pll7KSXpW39LvsAPazzVKe9Nf8E9QtkdtLEqU8UWtXqU6pH0uoD0qxqunoq1NrMzpyX7XEsc+WMebPxc4fxszlwgbzxx9/dD+W2LVNhA2djVGHSB6yfv/+/eLt27cXfllpjDHGXBY+jJlRcBjTL8V2DX6ZqP96AA4PD7t26JedxhhjzBz4MGb+lHCoLH1dZowxxlw2PowZY4wxxszIbP/pqzHGGGOM8WHMGGOMMWZWfBgzxhhjjJkRH8aMMcYYY2bEhzFjjDHGmBnxYcwYY4wxZkZ8GDPGGGOMmREfxowxxhhjZsSHMWOMMcaYGfFhzBhjjDFmRnwYM8YYY4yZER/GjDHGGGNmZOf/UPjHjx9XV7+5du3a4ubNm6s7s0kODg661ylD5sePH4tHjx4t7t+/v7hz584qd/t8/vy5GyN3795dXL9+fZVbBz+R//r1a+dnbSzV9FKPVAI5yUou5rWAf7It/xjz5mrgOfKbKEN5rT3IYB+Z0lhu1WPMzsNhbJehCTkdHh7+Ojk5WUmYTaH4tvDq1asuCfqDuvfu3VvlbJ8bN26c+Uy6ffv2r+/fv69KL4KPjJ1Yp+Rvn94nT56cK4uJMiAusqO8FvDv6OjonE70vH37diVh5kb90sK+zpGSzPHx8Tm9XFMvyuBLlGnRY8y+sBeHMRYQYJKyMTGBSWazaEFsgT5RvwgW18vi4cOHna/Pnz/vxoUOSX2HH/xl3MhP6fjw4UN3D1P0SgY91OOaTWWoXobNCv/kD6/cc0AzVwP6lNTCvs4RxnaU0ZiPB0/Zkm3KuI8HuxY9xuwLsx/GODwxMae+u2dy5gVNEzsuEExkJjeyTHgWAHF6etrlaXFkgYmQh4/UZ0ME6sc66I9Ee+jDhpA8+VwjN7QIZ/+jPhiyl/0v5UG2E+NETEnQFzPuWURJXKttXMeFdJ0Y0bexfzP4SZ0IhxZ01cj+0Xb0ECcxVi86FAdAF+2CrHsI5GOcgRigQ7HDTu7D0tzq6+e+vgXy8tjJedTRHFF8Yv+12Ojr/xK5TXE8QSxHbx5vQ20SfbGjj0jQ10bu93WOxPEusgx2sm300h7RoseYfWHWwxiTkUnJ5CpNzhaYnHnCsvmQr4WIxYp79LM4Msmxx0JC4po85ChHNi6c3JO0yUCsg33KtUjJHvmyR10t2tKncq6RqRH1cY0sSfpa7UX/S3nSU4oTqM5QzNSfJK61gSCjhVS2psaIa/JKoIOyuLADtqOOIehP9OgwM0UvZdQpbYrkKx4tKOZxM8ygk6R+VZ24Sff181DfQrYR85BHL9foIUU/YIwNz5HdmiMgXzXm0BllaKtsI6s+y4ftIT3G7BOzHcaYUHER0+I1dqIxOZnMgonLgkU+aNHRAgfYII+FhHIWhbgQoA8dItvQYhJ1SofssZAINuIon/VRl7zShl3Shx3qT7UHOW8oTsA1qSVm3Jdson8TMUIu+hqRrhxP5MlvgT5mI4htGquXdqIjx0FQp9aGEup36qGXA0E+mFGW55VkdZ/trjsfgLzYn/JTfmjTJnZTbHiO7MYcAXxnDKJHSYdQkG3qIkcbuCbFeA3pMWafmO2/tuAXNPxqSL+e4ZV78sfy6dOn7ldMpFu3bi2+fPmyWC6OXZn08Wucp0+fdinmRbuU8WsdrtERib/i4RdHywVo8ezZs67uixcvuld+7SPd3AvqIq8yiPqoV6OkD3l+YTTVnoh5kq3FKdIasxrSu06M5OM24Bdc/LIMXr9+3b1OgXHx8+fP7nUTqN+Xm1nnH9cPHjw4F0fgPs4r9Q/odZPzQcRf4lG+3GTP/IhlU2x4jgz7fFXmCL8I/fbt22J5kFwsD3edzy9fvly8e/duJfEbxgRt0a8lIfrbqseYfWC2wxgLB5OYSQ28ct+36NZYvnvqJitp+U51sXxHdbaIaZJr0iuxUbAYUM4rmxr5XLf4gCz20Pv48eOuHotEXpQFi7PaOoaaPrEpe0NxikyNmdh0jDLyBd8i6F6++17dlUGGDQ4fqR/bNUYveRzC2EjGxKYF/NPcQf+bN2/ObdAZ+odNDYb6ed2+bWHTNmrjSdTKPUc2P0fIYzyyNjJGOVwhwxqtgxZtAA5zuuZVbzCgRY8x+8RshzEmHpOYxOTStd5tjYGFDh2kOMFBC4Ums5I+zeIAxacXJycnXT4TP9avwWKBThbm09PTLi8eJuNiyuKFnMrGUNOHLfI2ZU+ytThFpsZMbMrnGvjChoJvAv34PaSf8cOnF7Q7y47RS31iRDw3AbFhA8RWRJ+M4IeI/gH3HBhAfm56Poxh0zbUJs+RdrY1R+RvPJxii3uVldoGtE31WvQYs0/M+j/wM/GZ0MAr95uGic/H29pomPB8/M3XmXGBZFFiMcKP9+/fd3k1kKU+etBHYuFFl+xRJnvYplwb5xiyPhYirnnHzfWm7A3FKdISM2Qok0xkEz4j3yeLbr6+Rg4feOXTIV5F1sE9dfi0iUWfeiT8Ey166RdiIj2tEOfa4Y2YKU7EDNu84g+bamwH/mFffcjGqfKhfp4yH8ayaRt5PHmO/Ab5Pll0b3qOIMt4ZBzjN2W0nTrxjfbDhw+7T750sEUv41QyrXqM2RtWz47tLDRh+a5/dVem70FQypaL3ln+cgE4uxdcP0kPwlJfdUjUWb4L7sp4sDXaQ2d80Jq8qK/2MK3I+nL9sfaglDf0wKzyWmLGg83kk8c1cC2b68YIeVINfNSv+qQ/P/ybdUg2pzi+WvQuN6qujDb2gUxsI3aIYw3GF/ZkW/Y17oA8dEQ5/In09XNL33I9NJ64jnGL/TfFRu7/jOfI1ZkjpXGKHeyJbJuUbbfoMWZf2Is/h8Q7TN5JDsG7ZL1T1jtXwTs73p1SxityekeIDd4F5k85pK9mX+X53WnWhz3sl/yKSF/JF2i1B7U2gfQM+dMXM4Ed6SnZbPU5x4h76PMPVC/rh6wDmyUox26kTy/5kOtkchv5Acpyc61+OiYUs1hXSAefesR4lZCekgx1aSNlvMY+KvVjzkNe9UHxirbG2CjVL6E2xboRlQ+NNyjlCekZ8qevjQI70lOy2epzjhH30OcfqF7WD1kHNktQjt1IS4xqbYu06DFm19n5w5gx+wCbzR9//NH9UrJvYxqi9UBnjDHm6jDrM2PGmP/BIWqdg5gxxpjdxJ+MGWOMMcbMiD8ZM8YYY4yZER/GjDHGGGNmxIcxY4wxxpgZ8WHMGGOMMWZGfBgzxhhjjJkRH8aMMcYYY2bEhzFjjDHGmBnxYcwYY4wxZkZ8GDPGGGOMmREfxowxxhhjZsSHMWOMMcaYGfFhzBhjjDFmRnwYM8aYPeTp06eLjx8/ru6MMVeZnT6Mff78uUsZFqBa/tevX1d3ZX78+LG4f//+qEWsRe9UpviTIRbybxP6jOO4Lq9fv17cuXOnS1eVsX3csg4cHBx0aSrob7FDfJ89e9Zdq04tDekyw6hfx4yZP8MawjgkLpsaYy0x29kx/WuHuXfv3q/chJOTky7v8PBwlfObDx8+dPnPnz9f5ZRRfXS3gvyTJ09Wdxd59epVl6YwxZ/M7du3z/zbhL7IOm1rYdv6p7LpOG6KqxqvyNu3b7vY3bhx48rFLzK2j5HtWwcAGdIU6FfWtRY7xPbo6Ki7RlZ2S2lI1y4x1/hXLMeMmau6hmyS79+/d2N2U23MMSv1N+W7OKZ3+jBGJxB4DlqCwxZ5OV8L0unp6SqnDh0+hqHO5zBEmspYfzLxMAbr6ous27Yhtq1/HTYZx01xleMlNBdZqK86Y/p4aB0AZEhj0bp2fHw8aIe41mT0pjSujfvEXOOfmJJgzJi5imvIpuHgpNhsghizUn/Xxv5VZ/avKd+9e9c928DrWO7evdu9xrp8RLl8V3h2LbhevlNcXL9+vbt/8eJFV5+vSfjYk48/xaNHj7qPVwWy+kqFfMpJEeqThwx69TUp9/o6Vdegj1ulFxs1oj+SLdkS2d9M1Ac5FvEjXq6jn7Hd3JfaBllnjG+mFouafq4ZM+i/efNmlwfRJn7GdkjvmLghG9uboSz2S/SJMrWLMUd5tMd9jlFpDgy1KdqUjRyvvj4E8lpiE32NfkAur/U35YoZ8tGXMW3NUIZMBB+ivZY4ZBvItNYHbMY4DK1rrXEjf3kga1onte6hcwx9vpC37fE9ZBP6+oD70vjnWn0IpfLS2Grtm4zGTMuYjOOLfGySxzW25aOgnDLpQDbGIIPcUNuo3zefc3nWSXnfWEAOamNXbRLYkg0RZbBH22Un9yfgD3LkYz/HMdIyry+F1aFsFniXx0fpnGJ55X4sfBxPEnwk+vDhwwsnZppKPvDKPfY4tVMH+3qnTplO1jrVR1lS1k0iT/LIgNqmduqTOe6jr9SpfbxOmfzpswU1f1Ufoj7FAn1cS55YkKKf0s011NomnbX4ZmqxqOmnnES/yxfZVFzQR3ns01jONTJCeX39nEFecZR+6qKDa/mOb2qjkLzaoPL4rq+1TdJRitdQH4L01GIT/eCaMpL8UHlLf+MXepDnWmM+2mhpa0afkvMVqNCnSXwKNCYO0Qb3+DmlvuRjn0oGkOG6dZ4I6uBTDcpkI1P7ZGzIF8pIlG16fA/ZlI6hPqDdlJO4jutFjFeOQbYDQ75lpEPX2BsakyBZXZNq81B50ScS8jWks9S22lwbKpdOylrGAvWQiX0QUZwUE92jR2CfBNJFkl2u8/5Qi2NkaExdJrMdxhigBEEdrKDEgduCBg71NcnQQedwDTG/NDDIJ08bg8rpXK5jx0g2ToB8nyccZbFceqMP1Kl9ZB1l+2z1+Rtt6V6xYAAKfEA/r5RnvyjTpIDctpb4RoZikfUD8iWbsR3q83Xjlm1Hsv5on3rk4RvkBYfrPP5ZEFjcdJ91DrUJuI956Bnqw6wnxqbkRx4j0Sfo629AlnIxta0RdBC/qIM2EmOYEgeQD631+/oUkCFRJt1iKG4i18vk+EYUV41DaPGF622M7yGbsT+oM9QH3Mc6kO3kGJTs5DpDfUMZSdfUVZtrYxKiHa6jH3EerrNGldpWm2tD5ZDL0U8edSGPBchxiMim2sYYQZ482q3yaF/X2M7tpzzmxThm0D00pi6L2b6m5GNDPhq8du1ad88r930fJ5bQR6B8NK+P5/XxKvDRaPzYXvr5aJKPQUkxL6J82YB4HZE9iB8Hl+Cj3GVnd792os18BMvrUD1RsyX/W/wFtQ/bAn3Ei9fYJ8RJ8fvy5ctK+iIxlkPxhamxiDEotYNy9KoManGTTGvcatAWga3lpD4b37FM4G8c/4ovTGlTidY+jHpKsYl+xDGi8tb+LlGyMbattJM+e/PmTfcVBbZpo75ymBKHSGt9ZJAFXiWXUd46casxtn6rL9sY30M2Y3+go6UPphDttPo2BP72jckS0Y9NrVGlthFHQbnm2lC5GDsWaEstdtRbHsDO9mleibmu9fXmmDW5FsfMNsfUWGY7jBEgvvdlkAKv3PcFroSCTqeRGBRA/vJ0fS6fwGtAEHCVqTwPIvmmQSbQuy7YXJ7uOz8eP37c2W55HqQPtS37W2NoYaEcvx48eND5y/VQ/4yJr1g3FrV2EAf1YR/b7Ocx0O5v37511+u2SUzpw0jNDzGlvzObaqs2OcaOnsPRAr6JOEypj5z6NLKJuNUYW3+bvkRiLKbYXLcPW9lkPPrG5Bg2tUapbRnNtaHydci+R9ivOQAR558/f3b3HNCIG3lHR0db6+vLGFMtzHYYY0DSaBInUl1PGah0GhPn06dPZ4cz4DrnK9DY1CQj6ROZiGQpF+hjsKwLg0DvuE5PT7s8TdapyF90itrkAslHGSYcfpDHRKCtJycnXQzI75tQMCa+Yt1Y1NqBPpX1IZlt9HMf0R5wz4IP67ZJTOnDSM0PjRGVj+nvzKbaiiyLNm0msS5o81w3Dq31KYtwrz6NbCJuNbTWEb8WtuULOiLc5/E9xuY6fZjHVh+bjEffmByDfMIPMWWNkp7aXBsqnwp7cF997fvEXAcvxrFiP+Vc0MK668ImmfXXlASCAQ68cj8FOo3OhthppXw6mY9cmVTYY5Dx7uXWrVtdR0Qky6c1yDBQtNCNgc5lQNPZesUeOrGvSbXuIMBfBjJ61ba+Qaz2SZ4JyDXvEriWP/KbPnr//n2XJ3LbxsQXhmKR9ZfI7UAH9tHT0l+b6uexMDaJqWLEO0PZndqmHK+WPuxjaIyM7e8S6/ZfBB20j1iiQ6wbh9b6fX0a2UTcasQDaAvb8qVlfI+x2dIHefwDdrCBXvKZ331sOh7ULY3JMcinddco6UGH2oZPmmtD5VNAB/QdQinDLmNGdti7sMunqTXbpf4ew7rrwkZZPTu20yxPtd0Dejz0F9FDjzmfh/aWh5auTCk+GMm9HhBElgcP0UFCbvnu7twDglEe9MCjHhjkQUvqksc1oId7peVAPPcQYYRy6Y/XkG2hI7YNvaRYJ+ogRjkWKqPt1FU+bdC9KLVtKL6ZvliU9HMd2wO5HdSJD9vmOjluLf2ciTqzfq5j3WyPa9qptpHyA65j2wQ5Xi19mPVkX/vGCIztb+oiE5nS1hL4ovqRKXEA5bXWJ48yyeU+VT6MjZtAbigWx8e/f6meyX0rhnzJNrled3yPtdnSB6X1grUk+pEf6OY6x3Ns30hG19lv8vAhE2VzvRxT9KyzRomhuTZ2LnLdNxbwk3v09iE59RvgR45btF/q71gO2Z9Iy5i6LC7f4pYg0KXDTC0fGByU0yER8jRwKMvldFicmFEekK/pjXmyX/NPRP2tttApvbzGOlkHyJecD9SXDcllSj5INueXkGwtFlEP1yU/oc+/WAddUSev2c/cz5moM+vnOrYl29OCkfNLtLYpknX29WHWU/NJ9Wo2Vd7XFsj2I7WyPrsZ2lobR2PiADmvpX4tfjWkp1VedvpAhjEWNzYY8q3mS7bJdYxx1jtlfA/ZFH19IEr6or+xvGYHar71UdKH7WhfRNlcD5vRNq/ZjzFrVEZtq1Erzzq57hsLHKjyQbxErgeluGX7EOvl8pLeDDYkU2v3ttmbw9i2YCBxUmZRI/GOs7TImd3msvtZm5Ux24LxNcemAh7fm2cX9yI+UcPH0kHUnMeHsQEY6EwCBhSJdyJ8zG32i8vuZ2x4szL7isf35vFetN8c8M+yY00DPLA85ZcwZrdwPxtjrjJeo/YPH8aMMcYYY2Zk9j8UbowxxhjzZ8aHMWOMMcaYGfFhzBhjjDFmRnwYM8YYY4yZER/GjDGmAf4EDX82ZdfRnwSa8udjjDHbwYexFSxM/A2uMYstsvzE+LLgb3zxt7NabdIm/r6Y/j5ciVYZ2orMVd+MDg4OupSvt8Wc44a/k8ffbJv6N+Mug7HxaYnNuv06ZTwT62fPnq3uxjF23kJLnZoM97SrlCjjv0SgLdSdG9owJi7bQONp7FjN8opvH+uO3bG0+GSuCPzXFub3n0MgHC1/tkEg3/cfG/K/D8e/6bUO8e9nkfhbYEN/3oH/FDDWyW1bR6bP9pzIx3y9LeYaN/wHkOhhXIyxfdmMjc9QbAAZ0hSmjmfizH+4OZax8xZa6vTJEL9YFpNiy//eThzmBr+H+nvbKDZjx2qWj/GtIVvboLRutPhkrgY+jAWYXGMYGugsNKR10R9Q5X9bZsHF5pBtFlqS/t4WCwZ14mRtkdEmpNjoj+wOHRbmAt9I+XqbzDFuNAbyJn0VGROfodjAOv06ZTwT4xa/MlPmbUudKXoloz+PRHu5Hzt2N81VOozB2HhE+aE+gGhr05TWjRafzNVg+zvVFmExioOPP/CZJ3eW4Z53heTld8TkxUVZdZXPIkgSDHTlIYNeTU7uddjhep1FDzvojrChoLcEtqiD/5FYp0UGiGX++3ZjJzgxJtboJUWb3KOL9rFREkvJy5cYO/o46or9AfhGytcR9avYtXFDPrFBD9dRd/ST/PgHc8mLsc5QhkyEdpKn9g3Fv2RjTH3FJsY6/+293K99fZPBt7HjWZ9C5npDUAe/In3zFlrqjNVLPDSeBP2AHmLXSkvfo498rvExj988N3jti32rTvIpL/V/tomu6DtxIIFkxFDdKI8OyqIvmxy7EOWxpfnNfWndkE8k8sfGj7w8nymP44D6Zn0u7lQ7BJOAwZbf7bEwCQaQBhEDknIGFoOJgYusBh9lWhgoz7J5QaOcpEHMNTKAHnSTuNakyWAbv6MMebSJVxJ684BHXrYy1KWOFgkRY9EiUwK71MuLTB/EAF+1IES7XJOIH7HmWnFDXnWBWERdijnXQvrydUTjZFfHDfmKI9eKpfyUXnTShugnibwYM6E4xL5l3JGn8dga/2iDe/ycUl/ycQORDCDDda1vhsAv6veNZ8lE0E+8KNvUvG2pM0Wv/Nd4F+RR1gJ2W/uuNK5BeXlu9PkwpHOo/2s20SdkQ9fyp7Wu5KVnW2NX8qX5jQ/UJXGtMSl7U+On+nE+q13co5dyrUFmOhd3qh2CAcNA0CBhQDFIyGMwqpzBGa+F3vFqIKmculxLL0g2T8R4HzcuoCyWl8Bn6pDwHR3aFPEDXVGnwE/ya1CmiQrSGeu0yAhNOlKMyxCKZYw7bYzv3FgEhOxkn7TJxbqAPG0QyJLydURjYZfHTe5/+RljqbEj37PdDDqIQ9RBbFl8gfKW+Gcb8qG1ftwM5BN9JJAhUSbdIvdNDexKz9B4zrGGbczbljpj9Sp+pX4n7qX8Eq19F/XFcd03N2L/Zfp0DvX/mPlI0jX6xtSVfa63NXYl3ze/8Sv6BpRPjR/k+opLrJPHhZnGTv+a8tq1a4vlQD/3axZ+sq1rfiUId+/ePfulIL8sQYYU8yLKp56I15H4S7abN2+urtrBz+WEXywnRqfr8ePHiwcPHiyWi9xafwh2OZkWX758Wfz1r3/t9EjncrFYSbTJCH41hJ+UvXz5svt1WQvoRSe/3kIHv+DiNcYqtpMYLCd/17cQy8ijLv1D/yHLNW0Ywz6Mm4xsEx+BDWKvMoh2M8QFf9+8edP9Uoz2EdtHjx6dlbfEv2ajtT4yyAKvkssor6VvMthoHc8lXduat5uG+fbz58/iLycV4xam9H0c14phy9zI1HQO9b+up9icWndbY1dl6BfozvO7xNT4iVi/ZT0309j5/9qCgcKCwOLIosM9Gy0bKnkstgwUDS4GG/lKbPx58WQjgrxYLd/lrK42B7YY0NjC5+U7jMXyXcvZpNAgx9cI9fr8YYKga/kOprtGJzZiW1tkBOX4iV9MxtLiXgPfsUFdNi3068AzBvqQumx66OR66iKw6+MmExfPCL7IrxZ08CIOOqBoE1o3/lPrI/ft27fV3f8Y0zeZMeO5pGsb87alzhi98vHevXvFOONr3Gj72ETfQ54b6zDU/7QfpszHdepG8GMTY1fymbHzOzLWB4HMJtZzc56dP4xpo+BUrw2UBUYDS+VaOJBTGYnFioU5UlrwGHhs2ttG/gsmGwtA9IXJx+CvLYZMMsVA73iYMLRBultkdB0nGv6MXQCwhX70nZ6ednmtn6xF8IM+YOPDb3TkxbKVfRw3EBdt+gj7tXFSAlniQaxJHFC1MK8b/9b6MX7APRtEZkzfwNTxHOdDDXyRHKBz7LxtqTNGL3Eg3sQnwzihDH0ttPZdDfkWYxjH6hSks9b/Ko+xap2PU+tGeeB+E2NX8uvO78hYH8Sm1nNznp0/jLFR8M7206dPZ4shGymThnckymPgIccgY2FhIPEpwK1bty4MJMly6keGgRcX2lZYrJgwDHBep4IPtA/f0cUrbYsThmv5SEw0YWgb7VVMVKdFhjgoTpRjG/kYa6A++SWoQ4zRgS4SNsYs5EJ1FE8Wjffv33d5Y9m3cSPb6iv8xGfaM9YHdBBXPjnUWIB1499anz6hTLHGj1IbxvQNtI7nTDyMjgE7Y+YttNRpkWFuE0M+FZP/EepBtN03j9fte2LPIV+xpx/0hmcqQ/2v8inzcWrdbY5d5JGRPHXj/B67boz1AdBNOXLIk+J6jq7WGJvE6tmxnYaHLGkKDx+K5cTvHp6M8MAi+cgqUVdwrwcTkeVhSXSQkFu+wzn3MGOUBx6KJI9XwB/qkhd9Gwu+HKcHhqPfID/F8h3subZSRl5kigyJuOCTICbLSb26u4j6RwlZ2eE+xpDrGOMYU2xSV3rwV/dCZfm6xC6PG+pTHuHh2tyf8WFg8qLdGrRB9SOt8c82lNdanzy1n0Q8I8qHob7JtIznEsw/6o0BnWPnbUudFhnaRBljokRpzvbNY2y29F3fuM6xpz6pb0wO6cSvvv6nvGU+knQte611Jc817UFWOjc5dofmd2nd4Hqd+OX6QHmUp81azxUrM57/zaQdhgHF4OJVMDg0QDIM6iwP5GnxoiyXM8jiQI3yUPIDSnlTkP4SlJVs4F8tDqJVpma7NGEzqp/tkBdjmH1Rm2PbKFden19D1HTXYiFbUR7IUxsoy+XbGDd97a6VZbt99MWhL/4lGzmvpX4tJjWkZ6x8K8gyzmuH4z7UlhKUlXzuqyP6ZIb6j7bEjRxa5vGYvpd/uX3RN15jnUyrTvmS87nPeXk+RqK9lrpRXtfUKflSo+Z7DcnXiLrkk6j5VvMh1xeSVz8K6mcdpo0D/llOQpPgo30+etXH9nxsy8fyy8V47Y/X9wm+Dvnjjz+6h5f98bTHzT6jr6p2fZzzVRNJYxT2dR6vMx89l82l0h3JzAV4B5w/Eub/UzHn4R3S0LvpPxMeN2YX2dd5vM589Fw2l4k/GWuAd42lh2CN6cPjxpirwzrz0XPZbBsfxowxxhhjZmTn/2sLY4wxxphdxocxY4wxxpgZ8WHMGGOMMWZGfBgzxhhjjJkRH8aMMcYYY2bEhzFjjDHGmBnxYcwYY4wxZkZ8GDPGGGOMmREfxowxxhhjZsSHMWOMMcaY2Vgs/j92hLbhSJHUAgAAAABJRU5ErkJggg=="/>
          <p:cNvSpPr>
            <a:spLocks noChangeAspect="1" noChangeArrowheads="1"/>
          </p:cNvSpPr>
          <p:nvPr/>
        </p:nvSpPr>
        <p:spPr bwMode="auto">
          <a:xfrm>
            <a:off x="1101605" y="231837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0" descr="Weighted Power Mean QM Quadratic Mean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036" y="4906909"/>
            <a:ext cx="304826" cy="3048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587" y="3276587"/>
            <a:ext cx="304826" cy="3048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34" y="1531938"/>
            <a:ext cx="6029325" cy="1390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34" y="2922588"/>
            <a:ext cx="602932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22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525"/>
    </mc:Choice>
    <mc:Fallback>
      <p:transition spd="slow" advTm="62525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 smtClean="0"/>
              <a:t>Optimum Model Recommendation</a:t>
            </a:r>
            <a:endParaRPr dirty="0"/>
          </a:p>
        </p:txBody>
      </p:sp>
      <p:sp>
        <p:nvSpPr>
          <p:cNvPr id="4" name="AutoShape 2" descr="data:image/png;base64,iVBORw0KGgoAAAANSUhEUgAAAmMAAACHCAYAAABagl7AAAAAAXNSR0IArs4c6QAAAARnQU1BAACxjwv8YQUAAAAJcEhZcwAADsMAAA7DAcdvqGQAADCeSURBVHhe7Z0/ehNN9rbl75dMZiabzLwrAFYAswIzKwCyyYAVACsAVgCsAFgBkE1myCYzZJMB2WR8uhs9nuPjqu7qluS29D73dRXqrjp1zqlTfyW18MGvJQtjjDHGGDML/2/1aowxxhhjZsCHMWOMMcaYGfFhzJhGnj59uvj48ePq7uqAT/j248ePVY4xxphd4v+Wi/jT1fXG+Pz58+I///nP4m9/+9sq5zdsGmwYpXy4du1a91qCev/85z87mevXr69y+2nRuwlo73//+99BO7ThX//6VzEGJVrafFltrDGlXyL4//Xr167+X/7yl1Xu/yC2//73v7vrudoIr1+/Xjx+/Hhx//79rs3rjG9k+sbBlJj84x//6GTv3LnT3RtjjNkheIB/09y7d48fBazufnNyctLlHR4ernJ+8+HDhy7/+fPnq5wyqo/uVpB/8uTJ6u4ir1696tK63L59u9eOwFYpBjVym0v+DrVx02QfpvRLhLp9bTg6Orr0Npa4ceNG5wusO76HxgFlpDExOT4+bh5XxhhjrhZb+ZpS7871iQDo+ufPn8X8u3fvdq81bt68uVhueN0nFJsCXZvUN8S7d+8Wyw2zi0GL3dzmy/a3RPZhU/1Sqs/Y+Pbt2+puPvgE68uXL92nYrDu+G4dB2Nign708amZIM+flBljzNWn9zDGVyVT0MbDpiPYRG7cuHF2LbhevtM/+4rrxYsXZ5uIvhISjx49OrdBIYsciXzKSRHqk4cMerVZcc81SdeizwfIdlsglu/fv++e7aG9MTYCfZRjm0MOqM3yseRvrY2QdSKHPO0i5lkX1Nov2eyDfBS5/tA4YlxwwMgxQSeHlhJ9fYQ98igj4V+EPOrXYpbReEUWkIcp47tlHMDYmMi3bLuvXcYYY64Iq0/IzsFXK3zlQTGv3I+Fr3VIAj0PHz7svtIjCWyQD7xyz1cufBVEHb6S+f79e1dOmb6a0VdFUZaUdZPIkzwygB50k7g+PT3t8od8qNmtfaUk+JqKetiRDdkU5JGIm2LCPbpr/qpOqY2gcsrwmWvpwQavUb6v/X0+cA+qjz9cKz6KX0Z1kcGmQJ4ytUn6oc9HktqEnOpzLbgn1WKWwTYykSnjG1rHwdiYQM5TPIwxxlxtiocxNgEWdqW+jaqGNho2Az038/bt23MbW8zXRhM3E/LJ0zNKKmfz4jpucpLNG2G810aow2XeOId86LMb65SIm7eeL8rPyZEX/YGoO/sLuU5uI9ds3gJZ8rRJ6/kl5Fv6oOYDdVQ/2qOtyPNaQnV1wNDBRH4pVvJpyEfKiUG0h/14cEI2tiHHLIMtyiNjx7doHQdjYiLQm/vGGGPM1efC15R83cOzJ5F834K+yuGrEn11oq+VgK9flE+evk7haxy+wiHFvIjyZQPidUT2QF/91RjyQX602I2gIz5zhB9HR0fFrzijv60MtTH+yhHZ5YZ99iu8WDbU/iEkq3YC/tDPQ7HXV4n6Wo6vEZeHiwv1hnykXdgnjzKNLeIfGTMuSm1Xv7eOb5AfLeMAWmMi1KfGGGN2iwuHMRb0w/RMSr5vQRuQNisOAEA++mI+NrXhsWGpTOXxwAB6PihvPlP8jAz5oPKxm542W/5rhIODgy7xPBAbM7auCmP6oETp0NIKBwwOGhw48qEl0tJHvD548KDL53rosDVEqe1jxzeMHQetMRHIyC/gvqTXGGPM1aL4AD/vxHWw4VXvzMdyfHzcbQafPn06t0lwnfO1YfJphjYyEhtR3oAkS7lA35RP8CJDPqg8bnAtBxDix6b64cOHs/T27duurPapyByM6YMSqh9jwsGZNrbEiU+COJxgH0o2h3wk1oyDk5OTLh/bYw/PGY3RfLAZM75hyjhoiQkQX9od24rtW7dure6MMcZcVYqHMRZxNtFfv351r3FDGQP12JAgfp1XymeTZaPShspmxkbEZpI3KsnyCQMybFRTfGTjon1s2rwO+UA5XyuRp/KhrymRYzNFJz4qUQ9btU24RPZ307T0QZ8Pqq/4cEDgmk+pWg5jxITDP782vHfvXvEQNeSj6sg/DmnoWwd9Moa9SGkcQyl/6jhoiQnQXkCnIC4PHz5c3RljjLmy/H50bDvoQePlZrLK+Y0ehM/5PAzNL+EoU4oPy3Ovh5aR5QFndJCQu3374i/Z4kPOH1YPVPMKPFhNXfL0kPWQD7Qpli830i7lh6mFHsJGb0YPZMs211lPzCv5m+vkNuZyrmOMsvxQ+4d8oG9z/Wg/k8sVL/kDWabPR8roD+Xjq+4F11FfjkEJftWIzciY8b3OOGiJCX1KO40xxuweWz2MARsIm1amlg9sZpTnjYs8/bKMslzO5hcPDlEekK/pzXk1HwS+y39eo51IlMvIH9XN/kItT37lcumslXMd/cnyArlSvuizAaqf8zNZRv5Eanpko+QjbVSZ5ETWJ5slPYLyeGAS5Jf6N+dzXZID2ZdP8RpUHoky6MU3DnXGGGN2jwP+WS7kOwdfHfGVjZ6l4WsevspZbpbnvjIyZlPo6/D4VeBVgK8oSZoLxhhjdoudPYzxDA7PxPAcDhweHnabEXnGGGOMMbvCzh7GIjwcXvrvB4wxxhhjrjp7cRgzxhhjjNlVev9QuDHGGGOM2S4+jBljjDHGzIgPY8YYY4wxM+LDmDHGGGPMjPgwZowxxhgzIz6MGWOMMcbMiA9jxhhjjDEz4sOYMcYYY8yM+DBmjDHGGDMjPowZY4wxxsyID2PGGGOMMTPiw5gxxhhjzIzs/B8K//jx4+rqN9euXVvcvHlzdfcbyZBPeebz58+LHz9+LK5fv94lQR5l1L9z586F+tm2yHqGkI27d+821xtTR37ShsjXr1+7lP1Vu0m0OddrRXpKfbJvDLWVPshx3iQHBwfd62VN502N/W0yZo6IoTr0M+XMG60JmSjTN3+m+GeM2VM4jO0yNCGnw8PDXycnJyuJ/8k8efJklXOeo6OjC+XUV74Set++fbuSKNsm1eyUuHHjxrm6t2/f/vX9+/dVaZkxdfBXcpFXr1517SE/t1v5Svfu3Rv0qQQ2qI++fWeorZSNGRdjUV+1gK+kdZC9nLbZxjFsY17V5kakJHN8fHzB9hT/jDH7y14cxljIgMWMwwcLXdwUteBxuMp8+PDhrDxuJNJBOfDKfdQRbZdgEe4rf/jwYafj+fPnne/Yz35kxtShPG4Mgrrc41+uS7tpow6zkp2yeaNf9tfd/K86Q23Ncd406Ce1wJjsG5ctYGtdHdtiW/OK9tLHmhuqozUCNA765s8U/4wx+83shzEOTyxC8ROnMbCI5U2BhS8uklzrnWi2wztbbaJxMeSeRTOCPmROT0+7e2T6NiT0kmpQn8U7wkGoT+eYOmobr9QTtIGNAMiP7eY6bi6QZVogRtTDDv5Fn9GV/WVTIi9uWtSlHvn50zny0EM5fQvYRI4yUu4/QKfKsYVMluuzW6KvrYJy7ES9eSxiJ/qPvkj0C10ah4B+ElAe48jBgDy9alwqT4xpN7aQq0FZ7p9SHvS1q1SH8ZnHaATfkI9sYl5xHeNKfKiHf0JxjWSZKf4ZY/abWQ9jLEgsQixUtU1sCBa2vIiVDmPYYKGMNrSYsvFIRuAP8nHxzZRsR9Bf29BkO2+48rPEmDq0XbKUc12C/NjujOqOPSxjl3psrGywugb1T9QpefWZ6tBf9A/to08UT8pIbNDIkq8+4159yrVQXtRJin04ZLdEX1sFeST5K1/jYSj6j0/Ia/xJL/nyC105HrqOfaqxwCv52CFxLT/HthvZvrFPOUntreW1tivWQYa8EtSjrGWOiCl1oDSO1Qb1KzqizFRbxpj9ZrbDGItTXOx55X7sps/CxkLNRkNikWNRiwsbMix2LJRc50MBC6dkhD5FIB9dbFL5YKYy5GKKG2yNuEFGtHiXGFOHWBIX6NNJfmy3UNtJ2gTHgG3ZV3y1AdHXxI3+EMjiM2jDin4xLshTH3CNj4I66I+xp1w+0Oe5LdIpPS12S/S1VZCXx7vGFci/aFvtkV8xXhoLkueapOuoJ48b2ptjl+sMtZuyvrFPebQBOa+1XVkPZdHXSG6rQJ78ElPq0F+0X/0uaBP9TD2lOOam2DLG7D+z/dcW/JLo/v37Z79O5JV78sfy5cuXxd///vcuPX78uNPFr5Qyjx496l7fvXvXvb548WKxXEyLv4giDx3LRbP7tRPXDx486HyMYItfS8WkNs3F06dPF9++fVu8fv16lTMe2rncRBbLjWXx8uXLUbroQ/pEsSKW6JEO4kNM37x50/3yjF+dIa/+0Rggn7aQYp6Iv1KL4wd5yuQHqD52RbyGVrsR2ai1NYKMxobGjfTzazrG4rNnzzo5xiav6JOMbAB1kVfZOsQ2trYb1IaY1D7gPhPzWtuV9cjHuWDMauzkfmYMM/eWB8zF8oDVtYX5ozXHGGNKzHYYY5NhIWNhA165J38sLHgcmkjLd6tdXkkPeciy0bHYx020BhuB/GSB5QARNwo2UW0OSvqZOnJRNiL/8qERO2pDpqUOmycb+vHxcZePrDZUrslrQQcC/FfMWtEGxcGY/3KBxAZFvBWPeDCWvDY4+YssPivdvn27+l8AUIcyDszIch3HgNodDwsQYz3Fbktba6ATWYEtNnDqoY9y4iO/MrSltT/7mNJuoKw29lvYRru2Na8EeawJ+I58HGPksT7Qh4wL4oEMh3OuYYp/xpg/AatPyGaBr2j4SJ+P6HnVVzZjoAnxawx93B+/XuGefCCfe2zxytcKEGX4qgWd+StT1dVXDFxH25nl4trJ1KA81tdXHEM6++rgGzZrSb4L8obaTR42WkF2eYDrbCnpa6/4lY36HNnY9/qqL/uhr8Ag+g18pUdelFEfg3TGrw+Vp9i12M20tjXaEdSLedGOvgajDfIrjmn6nXLZoJyk6/jVn/zBN8Bmtkv5mHYjn9sToTz2D+S81nZlPUNsY14J7rPPgviWyqiDfjHFP2PMfjP7QwpsACy2eSNohcUvL2IsbCx4LHIQF3Qt9uTFDSvKADIk/NIGqzxBnbwRk/RMGvrihpyhXH5QT4eHuJhTFtvXUiejOiXIz+0mfmp3tCewFetEqId8fmYKiFWMnw5QpNz/kiWfTZs4Iqd2ch19IF926eOoW6CTe3RRF/3cx/gO2Y2MaStyko161QZizT35lEu34p79Ur9zD1yTQLL4jF61m2ugLnnca45k/X3tBsqkIyaNfcrzGCnlZbulduU6eU5kkKde3xzJOlrrRBkl/Ba0Jc4fjUPqiBZbxpg/F7MfxtaFRSwvzCxq5GsRj9egRZWFUGQZFlgWVvKVuI8LbyyLKerpg41QCzEJ/WyCEfJIoqVORot/CfJzu9lMpJ9EvLRpA/FmEy2h2EZ5oX7RRosM97F9grLsR2wn99Fv5PFJsujUvUAG/xRT9NGWOH6G7EbGtJVrHTykl/oR7KhM8hpvHHKiX+iJm7fyIY9dHQg03vFJ5bEvWtsNUS4m9Um8FqW8lnblOsiQatCWbcwrleUUx09p3UBvHCMttowxfy724s8h8YxJfHYDYj7XPMui51l4PoPnY+KDwVlG8BwIqVSWn/sQJdk+Sv4IyiA/69RXJ6M2lGSH2l2qw3NRyw3y7DmYCD5B7g+Qz9FenzzID8pjDGp+ow87yPMa21CKJdd6Pi5SsxsZ01b5iy7ya3pll7KSXpW39LvsAPazzVKe9Nf8E9QtkdtLEqU8UWtXqU6pH0uoD0qxqunoq1NrMzpyX7XEsc+WMebPxc4fxszlwgbzxx9/dD+W2LVNhA2djVGHSB6yfv/+/eLt27cXfllpjDHGXBY+jJlRcBjTL8V2DX6ZqP96AA4PD7t26JedxhhjzBz4MGb+lHCoLH1dZowxxlw2PowZY4wxxszIbP/pqzHGGGOM8WHMGGOMMWZWfBgzxhhjjJkRH8aMMcYYY2bEhzFjjDHGmBnxYcwYY4wxZkZ8GDPGGGOMmREfxowxxhhjZsSHMWOMMcaYGfFhzBhjjDFmRnwYM8YYY4yZER/GjDHGGGNmZOf/UPjHjx9XV7+5du3a4ubNm6s7s0kODg661ylD5sePH4tHjx4t7t+/v7hz584qd/t8/vy5GyN3795dXL9+fZVbBz+R//r1a+dnbSzV9FKPVAI5yUou5rWAf7It/xjz5mrgOfKbKEN5rT3IYB+Z0lhu1WPMzsNhbJehCTkdHh7+Ojk5WUmYTaH4tvDq1asuCfqDuvfu3VvlbJ8bN26c+Uy6ffv2r+/fv69KL4KPjJ1Yp+Rvn94nT56cK4uJMiAusqO8FvDv6OjonE70vH37diVh5kb90sK+zpGSzPHx8Tm9XFMvyuBLlGnRY8y+sBeHMRYQYJKyMTGBSWazaEFsgT5RvwgW18vi4cOHna/Pnz/vxoUOSX2HH/xl3MhP6fjw4UN3D1P0SgY91OOaTWWoXobNCv/kD6/cc0AzVwP6lNTCvs4RxnaU0ZiPB0/Zkm3KuI8HuxY9xuwLsx/GODwxMae+u2dy5gVNEzsuEExkJjeyTHgWAHF6etrlaXFkgYmQh4/UZ0ME6sc66I9Ee+jDhpA8+VwjN7QIZ/+jPhiyl/0v5UG2E+NETEnQFzPuWURJXKttXMeFdJ0Y0bexfzP4SZ0IhxZ01cj+0Xb0ECcxVi86FAdAF+2CrHsI5GOcgRigQ7HDTu7D0tzq6+e+vgXy8tjJedTRHFF8Yv+12Ojr/xK5TXE8QSxHbx5vQ20SfbGjj0jQ10bu93WOxPEusgx2sm300h7RoseYfWHWwxiTkUnJ5CpNzhaYnHnCsvmQr4WIxYp79LM4Msmxx0JC4po85ChHNi6c3JO0yUCsg33KtUjJHvmyR10t2tKncq6RqRH1cY0sSfpa7UX/S3nSU4oTqM5QzNSfJK61gSCjhVS2psaIa/JKoIOyuLADtqOOIehP9OgwM0UvZdQpbYrkKx4tKOZxM8ygk6R+VZ24Sff181DfQrYR85BHL9foIUU/YIwNz5HdmiMgXzXm0BllaKtsI6s+y4ftIT3G7BOzHcaYUHER0+I1dqIxOZnMgonLgkU+aNHRAgfYII+FhHIWhbgQoA8dItvQYhJ1SofssZAINuIon/VRl7zShl3Shx3qT7UHOW8oTsA1qSVm3Jdson8TMUIu+hqRrhxP5MlvgT5mI4htGquXdqIjx0FQp9aGEup36qGXA0E+mFGW55VkdZ/trjsfgLzYn/JTfmjTJnZTbHiO7MYcAXxnDKJHSYdQkG3qIkcbuCbFeA3pMWafmO2/tuAXNPxqSL+e4ZV78sfy6dOn7ldMpFu3bi2+fPmyWC6OXZn08Wucp0+fdinmRbuU8WsdrtERib/i4RdHywVo8ezZs67uixcvuld+7SPd3AvqIq8yiPqoV6OkD3l+YTTVnoh5kq3FKdIasxrSu06M5OM24Bdc/LIMXr9+3b1OgXHx8+fP7nUTqN+Xm1nnH9cPHjw4F0fgPs4r9Q/odZPzQcRf4lG+3GTP/IhlU2x4jgz7fFXmCL8I/fbt22J5kFwsD3edzy9fvly8e/duJfEbxgRt0a8lIfrbqseYfWC2wxgLB5OYSQ28ct+36NZYvnvqJitp+U51sXxHdbaIaZJr0iuxUbAYUM4rmxr5XLf4gCz20Pv48eOuHotEXpQFi7PaOoaaPrEpe0NxikyNmdh0jDLyBd8i6F6++17dlUGGDQ4fqR/bNUYveRzC2EjGxKYF/NPcQf+bN2/ObdAZ+odNDYb6ed2+bWHTNmrjSdTKPUc2P0fIYzyyNjJGOVwhwxqtgxZtAA5zuuZVbzCgRY8x+8RshzEmHpOYxOTStd5tjYGFDh2kOMFBC4Ums5I+zeIAxacXJycnXT4TP9avwWKBThbm09PTLi8eJuNiyuKFnMrGUNOHLfI2ZU+ytThFpsZMbMrnGvjChoJvAv34PaSf8cOnF7Q7y47RS31iRDw3AbFhA8RWRJ+M4IeI/gH3HBhAfm56Poxh0zbUJs+RdrY1R+RvPJxii3uVldoGtE31WvQYs0/M+j/wM/GZ0MAr95uGic/H29pomPB8/M3XmXGBZFFiMcKP9+/fd3k1kKU+etBHYuFFl+xRJnvYplwb5xiyPhYirnnHzfWm7A3FKdISM2Qok0xkEz4j3yeLbr6+Rg4feOXTIV5F1sE9dfi0iUWfeiT8Ey166RdiIj2tEOfa4Y2YKU7EDNu84g+bamwH/mFffcjGqfKhfp4yH8ayaRt5PHmO/Ab5Pll0b3qOIMt4ZBzjN2W0nTrxjfbDhw+7T750sEUv41QyrXqM2RtWz47tLDRh+a5/dVem70FQypaL3ln+cgE4uxdcP0kPwlJfdUjUWb4L7sp4sDXaQ2d80Jq8qK/2MK3I+nL9sfaglDf0wKzyWmLGg83kk8c1cC2b68YIeVINfNSv+qQ/P/ybdUg2pzi+WvQuN6qujDb2gUxsI3aIYw3GF/ZkW/Y17oA8dEQ5/In09XNL33I9NJ64jnGL/TfFRu7/jOfI1ZkjpXGKHeyJbJuUbbfoMWZf2Is/h8Q7TN5JDsG7ZL1T1jtXwTs73p1SxityekeIDd4F5k85pK9mX+X53WnWhz3sl/yKSF/JF2i1B7U2gfQM+dMXM4Ed6SnZbPU5x4h76PMPVC/rh6wDmyUox26kTy/5kOtkchv5Acpyc61+OiYUs1hXSAefesR4lZCekgx1aSNlvMY+KvVjzkNe9UHxirbG2CjVL6E2xboRlQ+NNyjlCekZ8qevjQI70lOy2epzjhH30OcfqF7WD1kHNktQjt1IS4xqbYu06DFm19n5w5gx+wCbzR9//NH9UrJvYxqi9UBnjDHm6jDrM2PGmP/BIWqdg5gxxpjdxJ+MGWOMMcbMiD8ZM8YYY4yZER/GjDHGGGNmxIcxY4wxxpgZ8WHMGGOMMWZGfBgzxhhjjJkRH8aMMcYYY2bEhzFjjDHGmBnxYcwYY4wxZkZ8GDPGGGOMmREfxowxxhhjZsSHMWOMMcaYGfFhzBhjjDFmRnwYM8aYPeTp06eLjx8/ru6MMVeZnT6Mff78uUsZFqBa/tevX1d3ZX78+LG4f//+qEWsRe9UpviTIRbybxP6jOO4Lq9fv17cuXOnS1eVsX3csg4cHBx0aSrob7FDfJ89e9Zdq04tDekyw6hfx4yZP8MawjgkLpsaYy0x29kx/WuHuXfv3q/chJOTky7v8PBwlfObDx8+dPnPnz9f5ZRRfXS3gvyTJ09Wdxd59epVl6YwxZ/M7du3z/zbhL7IOm1rYdv6p7LpOG6KqxqvyNu3b7vY3bhx48rFLzK2j5HtWwcAGdIU6FfWtRY7xPbo6Ki7RlZ2S2lI1y4x1/hXLMeMmau6hmyS79+/d2N2U23MMSv1N+W7OKZ3+jBGJxB4DlqCwxZ5OV8L0unp6SqnDh0+hqHO5zBEmspYfzLxMAbr6ous27Yhtq1/HTYZx01xleMlNBdZqK86Y/p4aB0AZEhj0bp2fHw8aIe41mT0pjSujfvEXOOfmJJgzJi5imvIpuHgpNhsghizUn/Xxv5VZ/avKd+9e9c928DrWO7evdu9xrp8RLl8V3h2LbhevlNcXL9+vbt/8eJFV5+vSfjYk48/xaNHj7qPVwWy+kqFfMpJEeqThwx69TUp9/o6Vdegj1ulFxs1oj+SLdkS2d9M1Ac5FvEjXq6jn7Hd3JfaBllnjG+mFouafq4ZM+i/efNmlwfRJn7GdkjvmLghG9uboSz2S/SJMrWLMUd5tMd9jlFpDgy1KdqUjRyvvj4E8lpiE32NfkAur/U35YoZ8tGXMW3NUIZMBB+ivZY4ZBvItNYHbMY4DK1rrXEjf3kga1onte6hcwx9vpC37fE9ZBP6+oD70vjnWn0IpfLS2Grtm4zGTMuYjOOLfGySxzW25aOgnDLpQDbGIIPcUNuo3zefc3nWSXnfWEAOamNXbRLYkg0RZbBH22Un9yfgD3LkYz/HMdIyry+F1aFsFniXx0fpnGJ55X4sfBxPEnwk+vDhwwsnZppKPvDKPfY4tVMH+3qnTplO1jrVR1lS1k0iT/LIgNqmduqTOe6jr9SpfbxOmfzpswU1f1Ufoj7FAn1cS55YkKKf0s011NomnbX4ZmqxqOmnnES/yxfZVFzQR3ns01jONTJCeX39nEFecZR+6qKDa/mOb2qjkLzaoPL4rq+1TdJRitdQH4L01GIT/eCaMpL8UHlLf+MXepDnWmM+2mhpa0afkvMVqNCnSXwKNCYO0Qb3+DmlvuRjn0oGkOG6dZ4I6uBTDcpkI1P7ZGzIF8pIlG16fA/ZlI6hPqDdlJO4jutFjFeOQbYDQ75lpEPX2BsakyBZXZNq81B50ScS8jWks9S22lwbKpdOylrGAvWQiX0QUZwUE92jR2CfBNJFkl2u8/5Qi2NkaExdJrMdxhigBEEdrKDEgduCBg71NcnQQedwDTG/NDDIJ08bg8rpXK5jx0g2ToB8nyccZbFceqMP1Kl9ZB1l+2z1+Rtt6V6xYAAKfEA/r5RnvyjTpIDctpb4RoZikfUD8iWbsR3q83Xjlm1Hsv5on3rk4RvkBYfrPP5ZEFjcdJ91DrUJuI956Bnqw6wnxqbkRx4j0Sfo629AlnIxta0RdBC/qIM2EmOYEgeQD631+/oUkCFRJt1iKG4i18vk+EYUV41DaPGF622M7yGbsT+oM9QH3Mc6kO3kGJTs5DpDfUMZSdfUVZtrYxKiHa6jH3EerrNGldpWm2tD5ZDL0U8edSGPBchxiMim2sYYQZ482q3yaF/X2M7tpzzmxThm0D00pi6L2b6m5GNDPhq8du1ad88r930fJ5bQR6B8NK+P5/XxKvDRaPzYXvr5aJKPQUkxL6J82YB4HZE9iB8Hl+Cj3GVnd792os18BMvrUD1RsyX/W/wFtQ/bAn3Ei9fYJ8RJ8fvy5ctK+iIxlkPxhamxiDEotYNy9KoManGTTGvcatAWga3lpD4b37FM4G8c/4ovTGlTidY+jHpKsYl+xDGi8tb+LlGyMbattJM+e/PmTfcVBbZpo75ymBKHSGt9ZJAFXiWXUd46casxtn6rL9sY30M2Y3+go6UPphDttPo2BP72jckS0Y9NrVGlthFHQbnm2lC5GDsWaEstdtRbHsDO9mleibmu9fXmmDW5FsfMNsfUWGY7jBEgvvdlkAKv3PcFroSCTqeRGBRA/vJ0fS6fwGtAEHCVqTwPIvmmQSbQuy7YXJ7uOz8eP37c2W55HqQPtS37W2NoYaEcvx48eND5y/VQ/4yJr1g3FrV2EAf1YR/b7Ocx0O5v37511+u2SUzpw0jNDzGlvzObaqs2OcaOnsPRAr6JOEypj5z6NLKJuNUYW3+bvkRiLKbYXLcPW9lkPPrG5Bg2tUapbRnNtaHydci+R9ivOQAR558/f3b3HNCIG3lHR0db6+vLGFMtzHYYY0DSaBInUl1PGah0GhPn06dPZ4cz4DrnK9DY1CQj6ROZiGQpF+hjsKwLg0DvuE5PT7s8TdapyF90itrkAslHGSYcfpDHRKCtJycnXQzI75tQMCa+Yt1Y1NqBPpX1IZlt9HMf0R5wz4IP67ZJTOnDSM0PjRGVj+nvzKbaiiyLNm0msS5o81w3Dq31KYtwrz6NbCJuNbTWEb8WtuULOiLc5/E9xuY6fZjHVh+bjEffmByDfMIPMWWNkp7aXBsqnwp7cF997fvEXAcvxrFiP+Vc0MK668ImmfXXlASCAQ68cj8FOo3OhthppXw6mY9cmVTYY5Dx7uXWrVtdR0Qky6c1yDBQtNCNgc5lQNPZesUeOrGvSbXuIMBfBjJ61ba+Qaz2SZ4JyDXvEriWP/KbPnr//n2XJ3LbxsQXhmKR9ZfI7UAH9tHT0l+b6uexMDaJqWLEO0PZndqmHK+WPuxjaIyM7e8S6/ZfBB20j1iiQ6wbh9b6fX0a2UTcasQDaAvb8qVlfI+x2dIHefwDdrCBXvKZ331sOh7ULY3JMcinddco6UGH2oZPmmtD5VNAB/QdQinDLmNGdti7sMunqTXbpf4ew7rrwkZZPTu20yxPtd0Dejz0F9FDjzmfh/aWh5auTCk+GMm9HhBElgcP0UFCbvnu7twDglEe9MCjHhjkQUvqksc1oId7peVAPPcQYYRy6Y/XkG2hI7YNvaRYJ+ogRjkWKqPt1FU+bdC9KLVtKL6ZvliU9HMd2wO5HdSJD9vmOjluLf2ciTqzfq5j3WyPa9qptpHyA65j2wQ5Xi19mPVkX/vGCIztb+oiE5nS1hL4ovqRKXEA5bXWJ48yyeU+VT6MjZtAbigWx8e/f6meyX0rhnzJNrled3yPtdnSB6X1grUk+pEf6OY6x3Ns30hG19lv8vAhE2VzvRxT9KyzRomhuTZ2LnLdNxbwk3v09iE59RvgR45btF/q71gO2Z9Iy5i6LC7f4pYg0KXDTC0fGByU0yER8jRwKMvldFicmFEekK/pjXmyX/NPRP2tttApvbzGOlkHyJecD9SXDcllSj5INueXkGwtFlEP1yU/oc+/WAddUSev2c/cz5moM+vnOrYl29OCkfNLtLYpknX29WHWU/NJ9Wo2Vd7XFsj2I7WyPrsZ2lobR2PiADmvpX4tfjWkp1VedvpAhjEWNzYY8q3mS7bJdYxx1jtlfA/ZFH19IEr6or+xvGYHar71UdKH7WhfRNlcD5vRNq/ZjzFrVEZtq1Erzzq57hsLHKjyQbxErgeluGX7EOvl8pLeDDYkU2v3ttmbw9i2YCBxUmZRI/GOs7TImd3msvtZm5Ux24LxNcemAh7fm2cX9yI+UcPH0kHUnMeHsQEY6EwCBhSJdyJ8zG32i8vuZ2x4szL7isf35vFetN8c8M+yY00DPLA85ZcwZrdwPxtjrjJeo/YPH8aMMcYYY2Zk9j8UbowxxhjzZ8aHMWOMMcaYGfFhzBhjjDFmRnwYM8YYY4yZER/GjDGmAf4EDX82ZdfRnwSa8udjjDHbwYexFSxM/A2uMYstsvzE+LLgb3zxt7NabdIm/r6Y/j5ciVYZ2orMVd+MDg4OupSvt8Wc44a/k8ffbJv6N+Mug7HxaYnNuv06ZTwT62fPnq3uxjF23kJLnZoM97SrlCjjv0SgLdSdG9owJi7bQONp7FjN8opvH+uO3bG0+GSuCPzXFub3n0MgHC1/tkEg3/cfG/K/D8e/6bUO8e9nkfhbYEN/3oH/FDDWyW1bR6bP9pzIx3y9LeYaN/wHkOhhXIyxfdmMjc9QbAAZ0hSmjmfizH+4OZax8xZa6vTJEL9YFpNiy//eThzmBr+H+nvbKDZjx2qWj/GtIVvboLRutPhkrgY+jAWYXGMYGugsNKR10R9Q5X9bZsHF5pBtFlqS/t4WCwZ14mRtkdEmpNjoj+wOHRbmAt9I+XqbzDFuNAbyJn0VGROfodjAOv06ZTwT4xa/MlPmbUudKXoloz+PRHu5Hzt2N81VOozB2HhE+aE+gGhr05TWjRafzNVg+zvVFmExioOPP/CZJ3eW4Z53heTld8TkxUVZdZXPIkgSDHTlIYNeTU7uddjhep1FDzvojrChoLcEtqiD/5FYp0UGiGX++3ZjJzgxJtboJUWb3KOL9rFREkvJy5cYO/o46or9AfhGytcR9avYtXFDPrFBD9dRd/ST/PgHc8mLsc5QhkyEdpKn9g3Fv2RjTH3FJsY6/+293K99fZPBt7HjWZ9C5npDUAe/In3zFlrqjNVLPDSeBP2AHmLXSkvfo498rvExj988N3jti32rTvIpL/V/tomu6DtxIIFkxFDdKI8OyqIvmxy7EOWxpfnNfWndkE8k8sfGj7w8nymP44D6Zn0u7lQ7BJOAwZbf7bEwCQaQBhEDknIGFoOJgYusBh9lWhgoz7J5QaOcpEHMNTKAHnSTuNakyWAbv6MMebSJVxJ684BHXrYy1KWOFgkRY9EiUwK71MuLTB/EAF+1IES7XJOIH7HmWnFDXnWBWERdijnXQvrydUTjZFfHDfmKI9eKpfyUXnTShugnibwYM6E4xL5l3JGn8dga/2iDe/ycUl/ycQORDCDDda1vhsAv6veNZ8lE0E+8KNvUvG2pM0Wv/Nd4F+RR1gJ2W/uuNK5BeXlu9PkwpHOo/2s20SdkQ9fyp7Wu5KVnW2NX8qX5jQ/UJXGtMSl7U+On+nE+q13co5dyrUFmOhd3qh2CAcNA0CBhQDFIyGMwqpzBGa+F3vFqIKmculxLL0g2T8R4HzcuoCyWl8Bn6pDwHR3aFPEDXVGnwE/ya1CmiQrSGeu0yAhNOlKMyxCKZYw7bYzv3FgEhOxkn7TJxbqAPG0QyJLydURjYZfHTe5/+RljqbEj37PdDDqIQ9RBbFl8gfKW+Gcb8qG1ftwM5BN9JJAhUSbdIvdNDexKz9B4zrGGbczbljpj9Sp+pX4n7qX8Eq19F/XFcd03N2L/Zfp0DvX/mPlI0jX6xtSVfa63NXYl3ze/8Sv6BpRPjR/k+opLrJPHhZnGTv+a8tq1a4vlQD/3axZ+sq1rfiUId+/ePfulIL8sQYYU8yLKp56I15H4S7abN2+urtrBz+WEXywnRqfr8ePHiwcPHiyWi9xafwh2OZkWX758Wfz1r3/t9EjncrFYSbTJCH41hJ+UvXz5svt1WQvoRSe/3kIHv+DiNcYqtpMYLCd/17cQy8ijLv1D/yHLNW0Ywz6Mm4xsEx+BDWKvMoh2M8QFf9+8edP9Uoz2EdtHjx6dlbfEv2ajtT4yyAKvkssor6VvMthoHc8lXduat5uG+fbz58/iLycV4xam9H0c14phy9zI1HQO9b+up9icWndbY1dl6BfozvO7xNT4iVi/ZT0309j5/9qCgcKCwOLIosM9Gy0bKnkstgwUDS4GG/lKbPx58WQjgrxYLd/lrK42B7YY0NjC5+U7jMXyXcvZpNAgx9cI9fr8YYKga/kOprtGJzZiW1tkBOX4iV9MxtLiXgPfsUFdNi3068AzBvqQumx66OR66iKw6+MmExfPCL7IrxZ08CIOOqBoE1o3/lPrI/ft27fV3f8Y0zeZMeO5pGsb87alzhi98vHevXvFOONr3Gj72ETfQ54b6zDU/7QfpszHdepG8GMTY1fymbHzOzLWB4HMJtZzc56dP4xpo+BUrw2UBUYDS+VaOJBTGYnFioU5UlrwGHhs2ttG/gsmGwtA9IXJx+CvLYZMMsVA73iYMLRBultkdB0nGv6MXQCwhX70nZ6ednmtn6xF8IM+YOPDb3TkxbKVfRw3EBdt+gj7tXFSAlniQaxJHFC1MK8b/9b6MX7APRtEZkzfwNTxHOdDDXyRHKBz7LxtqTNGL3Eg3sQnwzihDH0ttPZdDfkWYxjH6hSks9b/Ko+xap2PU+tGeeB+E2NX8uvO78hYH8Sm1nNznp0/jLFR8M7206dPZ4shGymThnckymPgIccgY2FhIPEpwK1bty4MJMly6keGgRcX2lZYrJgwDHBep4IPtA/f0cUrbYsThmv5SEw0YWgb7VVMVKdFhjgoTpRjG/kYa6A++SWoQ4zRgS4SNsYs5EJ1FE8Wjffv33d5Y9m3cSPb6iv8xGfaM9YHdBBXPjnUWIB1499anz6hTLHGj1IbxvQNtI7nTDyMjgE7Y+YttNRpkWFuE0M+FZP/EepBtN03j9fte2LPIV+xpx/0hmcqQ/2v8inzcWrdbY5d5JGRPHXj/B67boz1AdBNOXLIk+J6jq7WGJvE6tmxnYaHLGkKDx+K5cTvHp6M8MAi+cgqUVdwrwcTkeVhSXSQkFu+wzn3MGOUBx6KJI9XwB/qkhd9Gwu+HKcHhqPfID/F8h3subZSRl5kigyJuOCTICbLSb26u4j6RwlZ2eE+xpDrGOMYU2xSV3rwV/dCZfm6xC6PG+pTHuHh2tyf8WFg8qLdGrRB9SOt8c82lNdanzy1n0Q8I8qHob7JtIznEsw/6o0BnWPnbUudFhnaRBljokRpzvbNY2y29F3fuM6xpz6pb0wO6cSvvv6nvGU+knQte611Jc817UFWOjc5dofmd2nd4Hqd+OX6QHmUp81azxUrM57/zaQdhgHF4OJVMDg0QDIM6iwP5GnxoiyXM8jiQI3yUPIDSnlTkP4SlJVs4F8tDqJVpma7NGEzqp/tkBdjmH1Rm2PbKFden19D1HTXYiFbUR7IUxsoy+XbGDd97a6VZbt99MWhL/4lGzmvpX4tJjWkZ6x8K8gyzmuH4z7UlhKUlXzuqyP6ZIb6j7bEjRxa5vGYvpd/uX3RN15jnUyrTvmS87nPeXk+RqK9lrpRXtfUKflSo+Z7DcnXiLrkk6j5VvMh1xeSVz8K6mcdpo0D/llOQpPgo30+etXH9nxsy8fyy8V47Y/X9wm+Dvnjjz+6h5f98bTHzT6jr6p2fZzzVRNJYxT2dR6vMx89l82l0h3JzAV4B5w/Eub/UzHn4R3S0LvpPxMeN2YX2dd5vM589Fw2l4k/GWuAd42lh2CN6cPjxpirwzrz0XPZbBsfxowxxhhjZmTn/2sLY4wxxphdxocxY4wxxpgZ8WHMGGOMMWZGfBgzxhhjjJkRH8aMMcYYY2bEhzFjjDHGmBnxYcwYY4wxZkZ8GDPGGGOMmREfxowxxhhjZsSHMWOMMcaY2Vgs/j92hLbhSJHUAgAAAABJRU5ErkJggg=="/>
          <p:cNvSpPr>
            <a:spLocks noChangeAspect="1" noChangeArrowheads="1"/>
          </p:cNvSpPr>
          <p:nvPr/>
        </p:nvSpPr>
        <p:spPr bwMode="auto">
          <a:xfrm>
            <a:off x="1101605" y="231837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0" descr="Weighted Power Mean QM Quadratic Mean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036" y="4906909"/>
            <a:ext cx="304826" cy="3048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587" y="3276587"/>
            <a:ext cx="304826" cy="3048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762" y="2027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55575" y="2051679"/>
            <a:ext cx="8378812" cy="43232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FFFFFF"/>
                </a:solidFill>
              </a:rPr>
              <a:t>Weighted Power Mean HM outperforms marginally in all error and correlation metrics, indicating better fit on the data</a:t>
            </a:r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endParaRPr lang="en-US" sz="2000" dirty="0">
              <a:solidFill>
                <a:srgbClr val="FFFFFF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FFFFFF"/>
                </a:solidFill>
              </a:rPr>
              <a:t>Choquet Integral provides richer interpretability with balanced importance between temperature and pressure, reflecting nuanced interactions</a:t>
            </a:r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endParaRPr lang="en-US" sz="2000" dirty="0">
              <a:solidFill>
                <a:srgbClr val="FFFFFF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FFFFFF"/>
                </a:solidFill>
              </a:rPr>
              <a:t>For purely predictive performance and simplicity, Weighted Power Mean HM is optimal</a:t>
            </a:r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endParaRPr lang="en-US" sz="2000" dirty="0">
              <a:solidFill>
                <a:srgbClr val="FFFFFF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FFFFFF"/>
                </a:solidFill>
              </a:rPr>
              <a:t>For interpretability and capturing interaction effects, Choquet Integral is preferable.</a:t>
            </a:r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endParaRPr lang="en-US" sz="2000" dirty="0">
              <a:solidFill>
                <a:srgbClr val="FFFFFF"/>
              </a:solidFill>
            </a:endParaRPr>
          </a:p>
          <a:p>
            <a:pPr algn="l">
              <a:defRPr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FFFFFF"/>
                </a:solidFill>
              </a:rPr>
              <a:t>Overall, the Weighted Power Mean HM should be the first choice focusing on prediction accuracy, while Choquet Integral suits those valuing variable interaction understanding alongside good accuracy</a:t>
            </a:r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endParaRPr lang="en-US" sz="2000" dirty="0">
              <a:solidFill>
                <a:srgbClr val="FFFFFF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441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052"/>
    </mc:Choice>
    <mc:Fallback>
      <p:transition spd="slow" advTm="59052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 smtClean="0"/>
              <a:t>Feature Importance</a:t>
            </a:r>
            <a:endParaRPr dirty="0"/>
          </a:p>
        </p:txBody>
      </p:sp>
      <p:sp>
        <p:nvSpPr>
          <p:cNvPr id="4" name="AutoShape 2" descr="data:image/png;base64,iVBORw0KGgoAAAANSUhEUgAAAmMAAACHCAYAAABagl7AAAAAAXNSR0IArs4c6QAAAARnQU1BAACxjwv8YQUAAAAJcEhZcwAADsMAAA7DAcdvqGQAADCeSURBVHhe7Z0/ehNN9rbl75dMZiabzLwrAFYAswIzKwCyyYAVACsAVgCsAFgBkE1myCYzZJMB2WR8uhs9nuPjqu7qluS29D73dRXqrjp1zqlTfyW18MGvJQtjjDHGGDML/2/1aowxxhhjZsCHMWOMMcaYGfFhzJhGnj59uvj48ePq7uqAT/j248ePVY4xxphd4v+Wi/jT1fXG+Pz58+I///nP4m9/+9sq5zdsGmwYpXy4du1a91qCev/85z87mevXr69y+2nRuwlo73//+99BO7ThX//6VzEGJVrafFltrDGlXyL4//Xr167+X/7yl1Xu/yC2//73v7vrudoIr1+/Xjx+/Hhx//79rs3rjG9k+sbBlJj84x//6GTv3LnT3RtjjNkheIB/09y7d48fBazufnNyctLlHR4ernJ+8+HDhy7/+fPnq5wyqo/uVpB/8uTJ6u4ir1696tK63L59u9eOwFYpBjVym0v+DrVx02QfpvRLhLp9bTg6Orr0Npa4ceNG5wusO76HxgFlpDExOT4+bh5XxhhjrhZb+ZpS7871iQDo+ufPn8X8u3fvdq81bt68uVhueN0nFJsCXZvUN8S7d+8Wyw2zi0GL3dzmy/a3RPZhU/1Sqs/Y+Pbt2+puPvgE68uXL92nYrDu+G4dB2Nign708amZIM+flBljzNWn9zDGVyVT0MbDpiPYRG7cuHF2LbhevtM/+4rrxYsXZ5uIvhISjx49OrdBIYsciXzKSRHqk4cMerVZcc81SdeizwfIdlsglu/fv++e7aG9MTYCfZRjm0MOqM3yseRvrY2QdSKHPO0i5lkX1Nov2eyDfBS5/tA4YlxwwMgxQSeHlhJ9fYQ98igj4V+EPOrXYpbReEUWkIcp47tlHMDYmMi3bLuvXcYYY64Iq0/IzsFXK3zlQTGv3I+Fr3VIAj0PHz7svtIjCWyQD7xyz1cufBVEHb6S+f79e1dOmb6a0VdFUZaUdZPIkzwygB50k7g+PT3t8od8qNmtfaUk+JqKetiRDdkU5JGIm2LCPbpr/qpOqY2gcsrwmWvpwQavUb6v/X0+cA+qjz9cKz6KX0Z1kcGmQJ4ytUn6oc9HktqEnOpzLbgn1WKWwTYykSnjG1rHwdiYQM5TPIwxxlxtiocxNgEWdqW+jaqGNho2Az038/bt23MbW8zXRhM3E/LJ0zNKKmfz4jpucpLNG2G810aow2XeOId86LMb65SIm7eeL8rPyZEX/YGoO/sLuU5uI9ds3gJZ8rRJ6/kl5Fv6oOYDdVQ/2qOtyPNaQnV1wNDBRH4pVvJpyEfKiUG0h/14cEI2tiHHLIMtyiNjx7doHQdjYiLQm/vGGGPM1efC15R83cOzJ5F834K+yuGrEn11oq+VgK9flE+evk7haxy+wiHFvIjyZQPidUT2QF/91RjyQX602I2gIz5zhB9HR0fFrzijv60MtTH+yhHZ5YZ99iu8WDbU/iEkq3YC/tDPQ7HXV4n6Wo6vEZeHiwv1hnykXdgnjzKNLeIfGTMuSm1Xv7eOb5AfLeMAWmMi1KfGGGN2iwuHMRb0w/RMSr5vQRuQNisOAEA++mI+NrXhsWGpTOXxwAB6PihvPlP8jAz5oPKxm542W/5rhIODgy7xPBAbM7auCmP6oETp0NIKBwwOGhw48qEl0tJHvD548KDL53rosDVEqe1jxzeMHQetMRHIyC/gvqTXGGPM1aL4AD/vxHWw4VXvzMdyfHzcbQafPn06t0lwnfO1YfJphjYyEhtR3oAkS7lA35RP8CJDPqg8bnAtBxDix6b64cOHs/T27duurPapyByM6YMSqh9jwsGZNrbEiU+COJxgH0o2h3wk1oyDk5OTLh/bYw/PGY3RfLAZM75hyjhoiQkQX9od24rtW7dure6MMcZcVYqHMRZxNtFfv351r3FDGQP12JAgfp1XymeTZaPShspmxkbEZpI3KsnyCQMybFRTfGTjon1s2rwO+UA5XyuRp/KhrymRYzNFJz4qUQ9btU24RPZ307T0QZ8Pqq/4cEDgmk+pWg5jxITDP782vHfvXvEQNeSj6sg/DmnoWwd9Moa9SGkcQyl/6jhoiQnQXkCnIC4PHz5c3RljjLmy/H50bDvoQePlZrLK+Y0ehM/5PAzNL+EoU4oPy3Ovh5aR5QFndJCQu3374i/Z4kPOH1YPVPMKPFhNXfL0kPWQD7Qpli830i7lh6mFHsJGb0YPZMs211lPzCv5m+vkNuZyrmOMsvxQ+4d8oG9z/Wg/k8sVL/kDWabPR8roD+Xjq+4F11FfjkEJftWIzciY8b3OOGiJCX1KO40xxuweWz2MARsIm1amlg9sZpTnjYs8/bKMslzO5hcPDlEekK/pzXk1HwS+y39eo51IlMvIH9XN/kItT37lcumslXMd/cnyArlSvuizAaqf8zNZRv5Eanpko+QjbVSZ5ETWJ5slPYLyeGAS5Jf6N+dzXZID2ZdP8RpUHoky6MU3DnXGGGN2jwP+WS7kOwdfHfGVjZ6l4WsevspZbpbnvjIyZlPo6/D4VeBVgK8oSZoLxhhjdoudPYzxDA7PxPAcDhweHnabEXnGGGOMMbvCzh7GIjwcXvrvB4wxxhhjrjp7cRgzxhhjjNlVev9QuDHGGGOM2S4+jBljjDHGzIgPY8YYY4wxM+LDmDHGGGPMjPgwZowxxhgzIz6MGWOMMcbMiA9jxhhjjDEz4sOYMcYYY8yM+DBmjDHGGDMjPowZY4wxxsyID2PGGGOMMTPiw5gxxhhjzIzs/B8K//jx4+rqN9euXVvcvHlzdfcbyZBPeebz58+LHz9+LK5fv94lQR5l1L9z586F+tm2yHqGkI27d+821xtTR37ShsjXr1+7lP1Vu0m0OddrRXpKfbJvDLWVPshx3iQHBwfd62VN502N/W0yZo6IoTr0M+XMG60JmSjTN3+m+GeM2VM4jO0yNCGnw8PDXycnJyuJ/8k8efJklXOeo6OjC+XUV74Set++fbuSKNsm1eyUuHHjxrm6t2/f/vX9+/dVaZkxdfBXcpFXr1517SE/t1v5Svfu3Rv0qQQ2qI++fWeorZSNGRdjUV+1gK+kdZC9nLbZxjFsY17V5kakJHN8fHzB9hT/jDH7y14cxljIgMWMwwcLXdwUteBxuMp8+PDhrDxuJNJBOfDKfdQRbZdgEe4rf/jwYafj+fPnne/Yz35kxtShPG4Mgrrc41+uS7tpow6zkp2yeaNf9tfd/K86Q23Ncd406Ce1wJjsG5ctYGtdHdtiW/OK9tLHmhuqozUCNA765s8U/4wx+83shzEOTyxC8ROnMbCI5U2BhS8uklzrnWi2wztbbaJxMeSeRTOCPmROT0+7e2T6NiT0kmpQn8U7wkGoT+eYOmobr9QTtIGNAMiP7eY6bi6QZVogRtTDDv5Fn9GV/WVTIi9uWtSlHvn50zny0EM5fQvYRI4yUu4/QKfKsYVMluuzW6KvrYJy7ES9eSxiJ/qPvkj0C10ah4B+ElAe48jBgDy9alwqT4xpN7aQq0FZ7p9SHvS1q1SH8ZnHaATfkI9sYl5xHeNKfKiHf0JxjWSZKf4ZY/abWQ9jLEgsQixUtU1sCBa2vIiVDmPYYKGMNrSYsvFIRuAP8nHxzZRsR9Bf29BkO2+48rPEmDq0XbKUc12C/NjujOqOPSxjl3psrGywugb1T9QpefWZ6tBf9A/to08UT8pIbNDIkq8+4159yrVQXtRJin04ZLdEX1sFeST5K1/jYSj6j0/Ia/xJL/nyC105HrqOfaqxwCv52CFxLT/HthvZvrFPOUntreW1tivWQYa8EtSjrGWOiCl1oDSO1Qb1KzqizFRbxpj9ZrbDGItTXOx55X7sps/CxkLNRkNikWNRiwsbMix2LJRc50MBC6dkhD5FIB9dbFL5YKYy5GKKG2yNuEFGtHiXGFOHWBIX6NNJfmy3UNtJ2gTHgG3ZV3y1AdHXxI3+EMjiM2jDin4xLshTH3CNj4I66I+xp1w+0Oe5LdIpPS12S/S1VZCXx7vGFci/aFvtkV8xXhoLkueapOuoJ48b2ptjl+sMtZuyvrFPebQBOa+1XVkPZdHXSG6rQJ78ElPq0F+0X/0uaBP9TD2lOOam2DLG7D+z/dcW/JLo/v37Z79O5JV78sfy5cuXxd///vcuPX78uNPFr5Qyjx496l7fvXvXvb548WKxXEyLv4giDx3LRbP7tRPXDx486HyMYItfS8WkNs3F06dPF9++fVu8fv16lTMe2rncRBbLjWXx8uXLUbroQ/pEsSKW6JEO4kNM37x50/3yjF+dIa/+0Rggn7aQYp6Iv1KL4wd5yuQHqD52RbyGVrsR2ai1NYKMxobGjfTzazrG4rNnzzo5xiav6JOMbAB1kVfZOsQ2trYb1IaY1D7gPhPzWtuV9cjHuWDMauzkfmYMM/eWB8zF8oDVtYX5ozXHGGNKzHYYY5NhIWNhA165J38sLHgcmkjLd6tdXkkPeciy0bHYx020BhuB/GSB5QARNwo2UW0OSvqZOnJRNiL/8qERO2pDpqUOmycb+vHxcZePrDZUrslrQQcC/FfMWtEGxcGY/3KBxAZFvBWPeDCWvDY4+YssPivdvn27+l8AUIcyDszIch3HgNodDwsQYz3Fbktba6ATWYEtNnDqoY9y4iO/MrSltT/7mNJuoKw29lvYRru2Na8EeawJ+I58HGPksT7Qh4wL4oEMh3OuYYp/xpg/AatPyGaBr2j4SJ+P6HnVVzZjoAnxawx93B+/XuGefCCfe2zxytcKEGX4qgWd+StT1dVXDFxH25nl4trJ1KA81tdXHEM6++rgGzZrSb4L8obaTR42WkF2eYDrbCnpa6/4lY36HNnY9/qqL/uhr8Ag+g18pUdelFEfg3TGrw+Vp9i12M20tjXaEdSLedGOvgajDfIrjmn6nXLZoJyk6/jVn/zBN8Bmtkv5mHYjn9sToTz2D+S81nZlPUNsY14J7rPPgviWyqiDfjHFP2PMfjP7QwpsACy2eSNohcUvL2IsbCx4LHIQF3Qt9uTFDSvKADIk/NIGqzxBnbwRk/RMGvrihpyhXH5QT4eHuJhTFtvXUiejOiXIz+0mfmp3tCewFetEqId8fmYKiFWMnw5QpNz/kiWfTZs4Iqd2ch19IF926eOoW6CTe3RRF/3cx/gO2Y2MaStyko161QZizT35lEu34p79Ur9zD1yTQLL4jF61m2ugLnnca45k/X3tBsqkIyaNfcrzGCnlZbulduU6eU5kkKde3xzJOlrrRBkl/Ba0Jc4fjUPqiBZbxpg/F7MfxtaFRSwvzCxq5GsRj9egRZWFUGQZFlgWVvKVuI8LbyyLKerpg41QCzEJ/WyCEfJIoqVORot/CfJzu9lMpJ9EvLRpA/FmEy2h2EZ5oX7RRosM97F9grLsR2wn99Fv5PFJsujUvUAG/xRT9NGWOH6G7EbGtJVrHTykl/oR7KhM8hpvHHKiX+iJm7fyIY9dHQg03vFJ5bEvWtsNUS4m9Um8FqW8lnblOsiQatCWbcwrleUUx09p3UBvHCMttowxfy724s8h8YxJfHYDYj7XPMui51l4PoPnY+KDwVlG8BwIqVSWn/sQJdk+Sv4IyiA/69RXJ6M2lGSH2l2qw3NRyw3y7DmYCD5B7g+Qz9FenzzID8pjDGp+ow87yPMa21CKJdd6Pi5SsxsZ01b5iy7ya3pll7KSXpW39LvsAPazzVKe9Nf8E9QtkdtLEqU8UWtXqU6pH0uoD0qxqunoq1NrMzpyX7XEsc+WMebPxc4fxszlwgbzxx9/dD+W2LVNhA2djVGHSB6yfv/+/eLt27cXfllpjDHGXBY+jJlRcBjTL8V2DX6ZqP96AA4PD7t26JedxhhjzBz4MGb+lHCoLH1dZowxxlw2PowZY4wxxszIbP/pqzHGGGOM8WHMGGOMMWZWfBgzxhhjjJkRH8aMMcYYY2bEhzFjjDHGmBnxYcwYY4wxZkZ8GDPGGGOMmREfxowxxhhjZsSHMWOMMcaYGfFhzBhjjDFmRnwYM8YYY4yZER/GjDHGGGNmZOf/UPjHjx9XV7+5du3a4ubNm6s7s0kODg661ylD5sePH4tHjx4t7t+/v7hz584qd/t8/vy5GyN3795dXL9+fZVbBz+R//r1a+dnbSzV9FKPVAI5yUou5rWAf7It/xjz5mrgOfKbKEN5rT3IYB+Z0lhu1WPMzsNhbJehCTkdHh7+Ojk5WUmYTaH4tvDq1asuCfqDuvfu3VvlbJ8bN26c+Uy6ffv2r+/fv69KL4KPjJ1Yp+Rvn94nT56cK4uJMiAusqO8FvDv6OjonE70vH37diVh5kb90sK+zpGSzPHx8Tm9XFMvyuBLlGnRY8y+sBeHMRYQYJKyMTGBSWazaEFsgT5RvwgW18vi4cOHna/Pnz/vxoUOSX2HH/xl3MhP6fjw4UN3D1P0SgY91OOaTWWoXobNCv/kD6/cc0AzVwP6lNTCvs4RxnaU0ZiPB0/Zkm3KuI8HuxY9xuwLsx/GODwxMae+u2dy5gVNEzsuEExkJjeyTHgWAHF6etrlaXFkgYmQh4/UZ0ME6sc66I9Ee+jDhpA8+VwjN7QIZ/+jPhiyl/0v5UG2E+NETEnQFzPuWURJXKttXMeFdJ0Y0bexfzP4SZ0IhxZ01cj+0Xb0ECcxVi86FAdAF+2CrHsI5GOcgRigQ7HDTu7D0tzq6+e+vgXy8tjJedTRHFF8Yv+12Ojr/xK5TXE8QSxHbx5vQ20SfbGjj0jQ10bu93WOxPEusgx2sm300h7RoseYfWHWwxiTkUnJ5CpNzhaYnHnCsvmQr4WIxYp79LM4Msmxx0JC4po85ChHNi6c3JO0yUCsg33KtUjJHvmyR10t2tKncq6RqRH1cY0sSfpa7UX/S3nSU4oTqM5QzNSfJK61gSCjhVS2psaIa/JKoIOyuLADtqOOIehP9OgwM0UvZdQpbYrkKx4tKOZxM8ygk6R+VZ24Sff181DfQrYR85BHL9foIUU/YIwNz5HdmiMgXzXm0BllaKtsI6s+y4ftIT3G7BOzHcaYUHER0+I1dqIxOZnMgonLgkU+aNHRAgfYII+FhHIWhbgQoA8dItvQYhJ1SofssZAINuIon/VRl7zShl3Shx3qT7UHOW8oTsA1qSVm3Jdson8TMUIu+hqRrhxP5MlvgT5mI4htGquXdqIjx0FQp9aGEup36qGXA0E+mFGW55VkdZ/trjsfgLzYn/JTfmjTJnZTbHiO7MYcAXxnDKJHSYdQkG3qIkcbuCbFeA3pMWafmO2/tuAXNPxqSL+e4ZV78sfy6dOn7ldMpFu3bi2+fPmyWC6OXZn08Wucp0+fdinmRbuU8WsdrtERib/i4RdHywVo8ezZs67uixcvuld+7SPd3AvqIq8yiPqoV6OkD3l+YTTVnoh5kq3FKdIasxrSu06M5OM24Bdc/LIMXr9+3b1OgXHx8+fP7nUTqN+Xm1nnH9cPHjw4F0fgPs4r9Q/odZPzQcRf4lG+3GTP/IhlU2x4jgz7fFXmCL8I/fbt22J5kFwsD3edzy9fvly8e/duJfEbxgRt0a8lIfrbqseYfWC2wxgLB5OYSQ28ct+36NZYvnvqJitp+U51sXxHdbaIaZJr0iuxUbAYUM4rmxr5XLf4gCz20Pv48eOuHotEXpQFi7PaOoaaPrEpe0NxikyNmdh0jDLyBd8i6F6++17dlUGGDQ4fqR/bNUYveRzC2EjGxKYF/NPcQf+bN2/ObdAZ+odNDYb6ed2+bWHTNmrjSdTKPUc2P0fIYzyyNjJGOVwhwxqtgxZtAA5zuuZVbzCgRY8x+8RshzEmHpOYxOTStd5tjYGFDh2kOMFBC4Ums5I+zeIAxacXJycnXT4TP9avwWKBThbm09PTLi8eJuNiyuKFnMrGUNOHLfI2ZU+ytThFpsZMbMrnGvjChoJvAv34PaSf8cOnF7Q7y47RS31iRDw3AbFhA8RWRJ+M4IeI/gH3HBhAfm56Poxh0zbUJs+RdrY1R+RvPJxii3uVldoGtE31WvQYs0/M+j/wM/GZ0MAr95uGic/H29pomPB8/M3XmXGBZFFiMcKP9+/fd3k1kKU+etBHYuFFl+xRJnvYplwb5xiyPhYirnnHzfWm7A3FKdISM2Qok0xkEz4j3yeLbr6+Rg4feOXTIV5F1sE9dfi0iUWfeiT8Ey166RdiIj2tEOfa4Y2YKU7EDNu84g+bamwH/mFffcjGqfKhfp4yH8ayaRt5PHmO/Ab5Pll0b3qOIMt4ZBzjN2W0nTrxjfbDhw+7T750sEUv41QyrXqM2RtWz47tLDRh+a5/dVem70FQypaL3ln+cgE4uxdcP0kPwlJfdUjUWb4L7sp4sDXaQ2d80Jq8qK/2MK3I+nL9sfaglDf0wKzyWmLGg83kk8c1cC2b68YIeVINfNSv+qQ/P/ybdUg2pzi+WvQuN6qujDb2gUxsI3aIYw3GF/ZkW/Y17oA8dEQ5/In09XNL33I9NJ64jnGL/TfFRu7/jOfI1ZkjpXGKHeyJbJuUbbfoMWZf2Is/h8Q7TN5JDsG7ZL1T1jtXwTs73p1SxityekeIDd4F5k85pK9mX+X53WnWhz3sl/yKSF/JF2i1B7U2gfQM+dMXM4Ed6SnZbPU5x4h76PMPVC/rh6wDmyUox26kTy/5kOtkchv5Acpyc61+OiYUs1hXSAefesR4lZCekgx1aSNlvMY+KvVjzkNe9UHxirbG2CjVL6E2xboRlQ+NNyjlCekZ8qevjQI70lOy2epzjhH30OcfqF7WD1kHNktQjt1IS4xqbYu06DFm19n5w5gx+wCbzR9//NH9UrJvYxqi9UBnjDHm6jDrM2PGmP/BIWqdg5gxxpjdxJ+MGWOMMcbMiD8ZM8YYY4yZER/GjDHGGGNmxIcxY4wxxpgZ8WHMGGOMMWZGfBgzxhhjjJkRH8aMMcYYY2bEhzFjjDHGmBnxYcwYY4wxZkZ8GDPGGGOMmREfxowxxhhjZsSHMWOMMcaYGfFhzBhjjDFmRnwYM8aYPeTp06eLjx8/ru6MMVeZnT6Mff78uUsZFqBa/tevX1d3ZX78+LG4f//+qEWsRe9UpviTIRbybxP6jOO4Lq9fv17cuXOnS1eVsX3csg4cHBx0aSrob7FDfJ89e9Zdq04tDekyw6hfx4yZP8MawjgkLpsaYy0x29kx/WuHuXfv3q/chJOTky7v8PBwlfObDx8+dPnPnz9f5ZRRfXS3gvyTJ09Wdxd59epVl6YwxZ/M7du3z/zbhL7IOm1rYdv6p7LpOG6KqxqvyNu3b7vY3bhx48rFLzK2j5HtWwcAGdIU6FfWtRY7xPbo6Ki7RlZ2S2lI1y4x1/hXLMeMmau6hmyS79+/d2N2U23MMSv1N+W7OKZ3+jBGJxB4DlqCwxZ5OV8L0unp6SqnDh0+hqHO5zBEmspYfzLxMAbr6ous27Yhtq1/HTYZx01xleMlNBdZqK86Y/p4aB0AZEhj0bp2fHw8aIe41mT0pjSujfvEXOOfmJJgzJi5imvIpuHgpNhsghizUn/Xxv5VZ/avKd+9e9c928DrWO7evdu9xrp8RLl8V3h2LbhevlNcXL9+vbt/8eJFV5+vSfjYk48/xaNHj7qPVwWy+kqFfMpJEeqThwx69TUp9/o6Vdegj1ulFxs1oj+SLdkS2d9M1Ac5FvEjXq6jn7Hd3JfaBllnjG+mFouafq4ZM+i/efNmlwfRJn7GdkjvmLghG9uboSz2S/SJMrWLMUd5tMd9jlFpDgy1KdqUjRyvvj4E8lpiE32NfkAur/U35YoZ8tGXMW3NUIZMBB+ivZY4ZBvItNYHbMY4DK1rrXEjf3kga1onte6hcwx9vpC37fE9ZBP6+oD70vjnWn0IpfLS2Grtm4zGTMuYjOOLfGySxzW25aOgnDLpQDbGIIPcUNuo3zefc3nWSXnfWEAOamNXbRLYkg0RZbBH22Un9yfgD3LkYz/HMdIyry+F1aFsFniXx0fpnGJ55X4sfBxPEnwk+vDhwwsnZppKPvDKPfY4tVMH+3qnTplO1jrVR1lS1k0iT/LIgNqmduqTOe6jr9SpfbxOmfzpswU1f1Ufoj7FAn1cS55YkKKf0s011NomnbX4ZmqxqOmnnES/yxfZVFzQR3ns01jONTJCeX39nEFecZR+6qKDa/mOb2qjkLzaoPL4rq+1TdJRitdQH4L01GIT/eCaMpL8UHlLf+MXepDnWmM+2mhpa0afkvMVqNCnSXwKNCYO0Qb3+DmlvuRjn0oGkOG6dZ4I6uBTDcpkI1P7ZGzIF8pIlG16fA/ZlI6hPqDdlJO4jutFjFeOQbYDQ75lpEPX2BsakyBZXZNq81B50ScS8jWks9S22lwbKpdOylrGAvWQiX0QUZwUE92jR2CfBNJFkl2u8/5Qi2NkaExdJrMdxhigBEEdrKDEgduCBg71NcnQQedwDTG/NDDIJ08bg8rpXK5jx0g2ToB8nyccZbFceqMP1Kl9ZB1l+2z1+Rtt6V6xYAAKfEA/r5RnvyjTpIDctpb4RoZikfUD8iWbsR3q83Xjlm1Hsv5on3rk4RvkBYfrPP5ZEFjcdJ91DrUJuI956Bnqw6wnxqbkRx4j0Sfo629AlnIxta0RdBC/qIM2EmOYEgeQD631+/oUkCFRJt1iKG4i18vk+EYUV41DaPGF622M7yGbsT+oM9QH3Mc6kO3kGJTs5DpDfUMZSdfUVZtrYxKiHa6jH3EerrNGldpWm2tD5ZDL0U8edSGPBchxiMim2sYYQZ482q3yaF/X2M7tpzzmxThm0D00pi6L2b6m5GNDPhq8du1ad88r930fJ5bQR6B8NK+P5/XxKvDRaPzYXvr5aJKPQUkxL6J82YB4HZE9iB8Hl+Cj3GVnd792os18BMvrUD1RsyX/W/wFtQ/bAn3Ei9fYJ8RJ8fvy5ctK+iIxlkPxhamxiDEotYNy9KoManGTTGvcatAWga3lpD4b37FM4G8c/4ovTGlTidY+jHpKsYl+xDGi8tb+LlGyMbattJM+e/PmTfcVBbZpo75ymBKHSGt9ZJAFXiWXUd46casxtn6rL9sY30M2Y3+go6UPphDttPo2BP72jckS0Y9NrVGlthFHQbnm2lC5GDsWaEstdtRbHsDO9mleibmu9fXmmDW5FsfMNsfUWGY7jBEgvvdlkAKv3PcFroSCTqeRGBRA/vJ0fS6fwGtAEHCVqTwPIvmmQSbQuy7YXJ7uOz8eP37c2W55HqQPtS37W2NoYaEcvx48eND5y/VQ/4yJr1g3FrV2EAf1YR/b7Ocx0O5v37511+u2SUzpw0jNDzGlvzObaqs2OcaOnsPRAr6JOEypj5z6NLKJuNUYW3+bvkRiLKbYXLcPW9lkPPrG5Bg2tUapbRnNtaHydci+R9ivOQAR558/f3b3HNCIG3lHR0db6+vLGFMtzHYYY0DSaBInUl1PGah0GhPn06dPZ4cz4DrnK9DY1CQj6ROZiGQpF+hjsKwLg0DvuE5PT7s8TdapyF90itrkAslHGSYcfpDHRKCtJycnXQzI75tQMCa+Yt1Y1NqBPpX1IZlt9HMf0R5wz4IP67ZJTOnDSM0PjRGVj+nvzKbaiiyLNm0msS5o81w3Dq31KYtwrz6NbCJuNbTWEb8WtuULOiLc5/E9xuY6fZjHVh+bjEffmByDfMIPMWWNkp7aXBsqnwp7cF997fvEXAcvxrFiP+Vc0MK668ImmfXXlASCAQ68cj8FOo3OhthppXw6mY9cmVTYY5Dx7uXWrVtdR0Qky6c1yDBQtNCNgc5lQNPZesUeOrGvSbXuIMBfBjJ61ba+Qaz2SZ4JyDXvEriWP/KbPnr//n2XJ3LbxsQXhmKR9ZfI7UAH9tHT0l+b6uexMDaJqWLEO0PZndqmHK+WPuxjaIyM7e8S6/ZfBB20j1iiQ6wbh9b6fX0a2UTcasQDaAvb8qVlfI+x2dIHefwDdrCBXvKZ331sOh7ULY3JMcinddco6UGH2oZPmmtD5VNAB/QdQinDLmNGdti7sMunqTXbpf4ew7rrwkZZPTu20yxPtd0Dejz0F9FDjzmfh/aWh5auTCk+GMm9HhBElgcP0UFCbvnu7twDglEe9MCjHhjkQUvqksc1oId7peVAPPcQYYRy6Y/XkG2hI7YNvaRYJ+ogRjkWKqPt1FU+bdC9KLVtKL6ZvliU9HMd2wO5HdSJD9vmOjluLf2ciTqzfq5j3WyPa9qptpHyA65j2wQ5Xi19mPVkX/vGCIztb+oiE5nS1hL4ovqRKXEA5bXWJ48yyeU+VT6MjZtAbigWx8e/f6meyX0rhnzJNrled3yPtdnSB6X1grUk+pEf6OY6x3Ns30hG19lv8vAhE2VzvRxT9KyzRomhuTZ2LnLdNxbwk3v09iE59RvgR45btF/q71gO2Z9Iy5i6LC7f4pYg0KXDTC0fGByU0yER8jRwKMvldFicmFEekK/pjXmyX/NPRP2tttApvbzGOlkHyJecD9SXDcllSj5INueXkGwtFlEP1yU/oc+/WAddUSev2c/cz5moM+vnOrYl29OCkfNLtLYpknX29WHWU/NJ9Wo2Vd7XFsj2I7WyPrsZ2lobR2PiADmvpX4tfjWkp1VedvpAhjEWNzYY8q3mS7bJdYxx1jtlfA/ZFH19IEr6or+xvGYHar71UdKH7WhfRNlcD5vRNq/ZjzFrVEZtq1Erzzq57hsLHKjyQbxErgeluGX7EOvl8pLeDDYkU2v3ttmbw9i2YCBxUmZRI/GOs7TImd3msvtZm5Ux24LxNcemAh7fm2cX9yI+UcPH0kHUnMeHsQEY6EwCBhSJdyJ8zG32i8vuZ2x4szL7isf35vFetN8c8M+yY00DPLA85ZcwZrdwPxtjrjJeo/YPH8aMMcYYY2Zk9j8UbowxxhjzZ8aHMWOMMcaYGfFhzBhjjDFmRnwYM8YYY4yZER/GjDGmAf4EDX82ZdfRnwSa8udjjDHbwYexFSxM/A2uMYstsvzE+LLgb3zxt7NabdIm/r6Y/j5ciVYZ2orMVd+MDg4OupSvt8Wc44a/k8ffbJv6N+Mug7HxaYnNuv06ZTwT62fPnq3uxjF23kJLnZoM97SrlCjjv0SgLdSdG9owJi7bQONp7FjN8opvH+uO3bG0+GSuCPzXFub3n0MgHC1/tkEg3/cfG/K/D8e/6bUO8e9nkfhbYEN/3oH/FDDWyW1bR6bP9pzIx3y9LeYaN/wHkOhhXIyxfdmMjc9QbAAZ0hSmjmfizH+4OZax8xZa6vTJEL9YFpNiy//eThzmBr+H+nvbKDZjx2qWj/GtIVvboLRutPhkrgY+jAWYXGMYGugsNKR10R9Q5X9bZsHF5pBtFlqS/t4WCwZ14mRtkdEmpNjoj+wOHRbmAt9I+XqbzDFuNAbyJn0VGROfodjAOv06ZTwT4xa/MlPmbUudKXoloz+PRHu5Hzt2N81VOozB2HhE+aE+gGhr05TWjRafzNVg+zvVFmExioOPP/CZJ3eW4Z53heTld8TkxUVZdZXPIkgSDHTlIYNeTU7uddjhep1FDzvojrChoLcEtqiD/5FYp0UGiGX++3ZjJzgxJtboJUWb3KOL9rFREkvJy5cYO/o46or9AfhGytcR9avYtXFDPrFBD9dRd/ST/PgHc8mLsc5QhkyEdpKn9g3Fv2RjTH3FJsY6/+293K99fZPBt7HjWZ9C5npDUAe/In3zFlrqjNVLPDSeBP2AHmLXSkvfo498rvExj988N3jti32rTvIpL/V/tomu6DtxIIFkxFDdKI8OyqIvmxy7EOWxpfnNfWndkE8k8sfGj7w8nymP44D6Zn0u7lQ7BJOAwZbf7bEwCQaQBhEDknIGFoOJgYusBh9lWhgoz7J5QaOcpEHMNTKAHnSTuNakyWAbv6MMebSJVxJ684BHXrYy1KWOFgkRY9EiUwK71MuLTB/EAF+1IES7XJOIH7HmWnFDXnWBWERdijnXQvrydUTjZFfHDfmKI9eKpfyUXnTShugnibwYM6E4xL5l3JGn8dga/2iDe/ycUl/ycQORDCDDda1vhsAv6veNZ8lE0E+8KNvUvG2pM0Wv/Nd4F+RR1gJ2W/uuNK5BeXlu9PkwpHOo/2s20SdkQ9fyp7Wu5KVnW2NX8qX5jQ/UJXGtMSl7U+On+nE+q13co5dyrUFmOhd3qh2CAcNA0CBhQDFIyGMwqpzBGa+F3vFqIKmculxLL0g2T8R4HzcuoCyWl8Bn6pDwHR3aFPEDXVGnwE/ya1CmiQrSGeu0yAhNOlKMyxCKZYw7bYzv3FgEhOxkn7TJxbqAPG0QyJLydURjYZfHTe5/+RljqbEj37PdDDqIQ9RBbFl8gfKW+Gcb8qG1ftwM5BN9JJAhUSbdIvdNDexKz9B4zrGGbczbljpj9Sp+pX4n7qX8Eq19F/XFcd03N2L/Zfp0DvX/mPlI0jX6xtSVfa63NXYl3ze/8Sv6BpRPjR/k+opLrJPHhZnGTv+a8tq1a4vlQD/3axZ+sq1rfiUId+/ePfulIL8sQYYU8yLKp56I15H4S7abN2+urtrBz+WEXywnRqfr8ePHiwcPHiyWi9xafwh2OZkWX758Wfz1r3/t9EjncrFYSbTJCH41hJ+UvXz5svt1WQvoRSe/3kIHv+DiNcYqtpMYLCd/17cQy8ijLv1D/yHLNW0Ywz6Mm4xsEx+BDWKvMoh2M8QFf9+8edP9Uoz2EdtHjx6dlbfEv2ajtT4yyAKvkssor6VvMthoHc8lXduat5uG+fbz58/iLycV4xam9H0c14phy9zI1HQO9b+up9icWndbY1dl6BfozvO7xNT4iVi/ZT0309j5/9qCgcKCwOLIosM9Gy0bKnkstgwUDS4GG/lKbPx58WQjgrxYLd/lrK42B7YY0NjC5+U7jMXyXcvZpNAgx9cI9fr8YYKga/kOprtGJzZiW1tkBOX4iV9MxtLiXgPfsUFdNi3068AzBvqQumx66OR66iKw6+MmExfPCL7IrxZ08CIOOqBoE1o3/lPrI/ft27fV3f8Y0zeZMeO5pGsb87alzhi98vHevXvFOONr3Gj72ETfQ54b6zDU/7QfpszHdepG8GMTY1fymbHzOzLWB4HMJtZzc56dP4xpo+BUrw2UBUYDS+VaOJBTGYnFioU5UlrwGHhs2ttG/gsmGwtA9IXJx+CvLYZMMsVA73iYMLRBultkdB0nGv6MXQCwhX70nZ6ednmtn6xF8IM+YOPDb3TkxbKVfRw3EBdt+gj7tXFSAlniQaxJHFC1MK8b/9b6MX7APRtEZkzfwNTxHOdDDXyRHKBz7LxtqTNGL3Eg3sQnwzihDH0ttPZdDfkWYxjH6hSks9b/Ko+xap2PU+tGeeB+E2NX8uvO78hYH8Sm1nNznp0/jLFR8M7206dPZ4shGymThnckymPgIccgY2FhIPEpwK1bty4MJMly6keGgRcX2lZYrJgwDHBep4IPtA/f0cUrbYsThmv5SEw0YWgb7VVMVKdFhjgoTpRjG/kYa6A++SWoQ4zRgS4SNsYs5EJ1FE8Wjffv33d5Y9m3cSPb6iv8xGfaM9YHdBBXPjnUWIB1499anz6hTLHGj1IbxvQNtI7nTDyMjgE7Y+YttNRpkWFuE0M+FZP/EepBtN03j9fte2LPIV+xpx/0hmcqQ/2v8inzcWrdbY5d5JGRPHXj/B67boz1AdBNOXLIk+J6jq7WGJvE6tmxnYaHLGkKDx+K5cTvHp6M8MAi+cgqUVdwrwcTkeVhSXSQkFu+wzn3MGOUBx6KJI9XwB/qkhd9Gwu+HKcHhqPfID/F8h3subZSRl5kigyJuOCTICbLSb26u4j6RwlZ2eE+xpDrGOMYU2xSV3rwV/dCZfm6xC6PG+pTHuHh2tyf8WFg8qLdGrRB9SOt8c82lNdanzy1n0Q8I8qHob7JtIznEsw/6o0BnWPnbUudFhnaRBljokRpzvbNY2y29F3fuM6xpz6pb0wO6cSvvv6nvGU+knQte611Jc817UFWOjc5dofmd2nd4Hqd+OX6QHmUp81azxUrM57/zaQdhgHF4OJVMDg0QDIM6iwP5GnxoiyXM8jiQI3yUPIDSnlTkP4SlJVs4F8tDqJVpma7NGEzqp/tkBdjmH1Rm2PbKFden19D1HTXYiFbUR7IUxsoy+XbGDd97a6VZbt99MWhL/4lGzmvpX4tJjWkZ6x8K8gyzmuH4z7UlhKUlXzuqyP6ZIb6j7bEjRxa5vGYvpd/uX3RN15jnUyrTvmS87nPeXk+RqK9lrpRXtfUKflSo+Z7DcnXiLrkk6j5VvMh1xeSVz8K6mcdpo0D/llOQpPgo30+etXH9nxsy8fyy8V47Y/X9wm+Dvnjjz+6h5f98bTHzT6jr6p2fZzzVRNJYxT2dR6vMx89l82l0h3JzAV4B5w/Eub/UzHn4R3S0LvpPxMeN2YX2dd5vM589Fw2l4k/GWuAd42lh2CN6cPjxpirwzrz0XPZbBsfxowxxhhjZmTn/2sLY4wxxphdxocxY4wxxpgZ8WHMGGOMMWZGfBgzxhhjjJkRH8aMMcYYY2bEhzFjjDHGmBnxYcwYY4wxZkZ8GDPGGGOMmREfxowxxhhjZsSHMWOMMcaY2Vgs/j92hLbhSJHUAgAAAABJRU5ErkJggg=="/>
          <p:cNvSpPr>
            <a:spLocks noChangeAspect="1" noChangeArrowheads="1"/>
          </p:cNvSpPr>
          <p:nvPr/>
        </p:nvSpPr>
        <p:spPr bwMode="auto">
          <a:xfrm>
            <a:off x="1101605" y="231837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10" descr="Weighted Power Mean QM Quadratic Mean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036" y="4906909"/>
            <a:ext cx="304826" cy="3048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587" y="3276587"/>
            <a:ext cx="304826" cy="3048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762" y="2027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07988" y="1417638"/>
            <a:ext cx="8378812" cy="43232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>
                <a:solidFill>
                  <a:srgbClr val="FFFFFF"/>
                </a:solidFill>
              </a:defRPr>
            </a:pPr>
            <a:r>
              <a:rPr lang="en-US" sz="1800" dirty="0" smtClean="0">
                <a:solidFill>
                  <a:srgbClr val="FFFFFF"/>
                </a:solidFill>
              </a:rPr>
              <a:t>	</a:t>
            </a:r>
            <a:endParaRPr lang="en-US" sz="2000" dirty="0"/>
          </a:p>
          <a:p>
            <a:pPr marL="571500" indent="-5715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199362"/>
              </p:ext>
            </p:extLst>
          </p:nvPr>
        </p:nvGraphicFramePr>
        <p:xfrm>
          <a:off x="227876" y="1524061"/>
          <a:ext cx="5201430" cy="391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715"/>
                <a:gridCol w="2600715"/>
              </a:tblGrid>
              <a:tr h="442084">
                <a:tc>
                  <a:txBody>
                    <a:bodyPr/>
                    <a:lstStyle/>
                    <a:p>
                      <a:r>
                        <a:rPr lang="en-US" dirty="0" smtClean="0"/>
                        <a:t>Variable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Weightage</a:t>
                      </a:r>
                      <a:endParaRPr lang="en-US" dirty="0"/>
                    </a:p>
                  </a:txBody>
                  <a:tcPr/>
                </a:tc>
              </a:tr>
              <a:tr h="760053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X1: Temperature in living room area(Celsius degrees)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0.936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50009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X2: Humidity in living room area (percentage)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402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X3: Temperature in office room (Celsius degrees)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0.066</a:t>
                      </a:r>
                      <a:endParaRPr lang="en-US" dirty="0"/>
                    </a:p>
                  </a:txBody>
                  <a:tcPr/>
                </a:tc>
              </a:tr>
              <a:tr h="30402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X4: Humidity in office room (percentage)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0402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X5: Pressure (millimeter of mercury)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itle 1"/>
          <p:cNvSpPr txBox="1">
            <a:spLocks/>
          </p:cNvSpPr>
          <p:nvPr/>
        </p:nvSpPr>
        <p:spPr>
          <a:xfrm>
            <a:off x="5702060" y="1962533"/>
            <a:ext cx="2156604" cy="2367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>
                <a:solidFill>
                  <a:srgbClr val="FFFFFF"/>
                </a:solidFill>
              </a:defRPr>
            </a:pPr>
            <a:r>
              <a:rPr lang="en-US" sz="2000" dirty="0" smtClean="0">
                <a:solidFill>
                  <a:srgbClr val="FFFFFF"/>
                </a:solidFill>
              </a:rPr>
              <a:t>Temperature in living room and overall office influence energy use of appliances significantly.</a:t>
            </a: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204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850"/>
    </mc:Choice>
    <mc:Fallback>
      <p:transition spd="slow" advTm="4085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157</TotalTime>
  <Words>497</Words>
  <Application>Microsoft Office PowerPoint</Application>
  <PresentationFormat>On-screen Show (4:3)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Enhanced EDA Presentation: Energy Appliances Dataset</vt:lpstr>
      <vt:lpstr>Variables X1, X2,X5 and Y show potential outliers in boxplots. Right skewness is observed in X1,Y distributions. Left skewness is observed in X3 and X5.</vt:lpstr>
      <vt:lpstr>Pairwise Scatterplots scatter plots</vt:lpstr>
      <vt:lpstr>Pairwise Relationships Correlations</vt:lpstr>
      <vt:lpstr>Multicollinearity Summary</vt:lpstr>
      <vt:lpstr>Key Insights</vt:lpstr>
      <vt:lpstr>Polynomial Transformations</vt:lpstr>
      <vt:lpstr>Apply Transformations</vt:lpstr>
      <vt:lpstr>Models Evaluated</vt:lpstr>
      <vt:lpstr>Models Evaluated</vt:lpstr>
      <vt:lpstr>Models Evaluated</vt:lpstr>
      <vt:lpstr>Optimum Model Recommendation</vt:lpstr>
      <vt:lpstr>Feature Importance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EDA Presentation: ENB Dataset</dc:title>
  <dc:subject/>
  <dc:creator>admin</dc:creator>
  <cp:keywords/>
  <dc:description>generated using python-pptx</dc:description>
  <cp:lastModifiedBy>admin</cp:lastModifiedBy>
  <cp:revision>29</cp:revision>
  <dcterms:created xsi:type="dcterms:W3CDTF">2013-01-27T09:14:16Z</dcterms:created>
  <dcterms:modified xsi:type="dcterms:W3CDTF">2025-11-30T15:42:18Z</dcterms:modified>
  <cp:category/>
</cp:coreProperties>
</file>